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B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6304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2B33D"/>
                </a:solidFill>
                <a:latin typeface="Avenir Next"/>
              </a:rPr>
              <a:t>نشر  ·  Nashr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10058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1">
                <a:solidFill>
                  <a:srgbClr val="E9F0EC"/>
                </a:solidFill>
                <a:latin typeface="Avenir Next"/>
              </a:rPr>
              <a:t>While you sleep,</a:t>
            </a:r>
          </a:p>
          <a:p>
            <a:pPr algn="l">
              <a:spcAft>
                <a:spcPts val="600"/>
              </a:spcAft>
            </a:pPr>
            <a:r>
              <a:rPr sz="6000" b="1">
                <a:solidFill>
                  <a:srgbClr val="E9F0EC"/>
                </a:solidFill>
                <a:latin typeface="Avenir Next"/>
              </a:rPr>
              <a:t>Noor markets.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976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A9BFB8"/>
                </a:solidFill>
                <a:latin typeface="Avenir Next"/>
              </a:rPr>
              <a:t>The AI marketing team for Gulf businesses, Arabic-first: it drafts, you approve.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9BFB8"/>
                </a:solidFill>
                <a:latin typeface="Avenir Next"/>
              </a:rPr>
              <a:t>Seed round  ·  September 2026  ·  Riyadh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603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918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035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638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5953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8755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1673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8988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51790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591056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84708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92024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04825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121408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7744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45059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57860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651760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90779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98094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10896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182112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43814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51129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3931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712464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96849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04164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16966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242816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49884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70001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773168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2920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10235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23036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30352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55955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63270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76072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83387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08990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16305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29107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36422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62025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69340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82142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894576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15060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22376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35177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424928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68096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75411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88212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955280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21131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28446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41248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485632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74166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81481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94283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015984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27201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34516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47318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546336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80236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87552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00353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076688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33272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40587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3388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60704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86307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093622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106424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113739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139342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46657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159459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166774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192377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199692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212494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D9503F"/>
                </a:solidFill>
                <a:latin typeface="Avenir Next"/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0F3D3A"/>
                </a:solidFill>
                <a:latin typeface="Avenir Next"/>
              </a:rPr>
              <a:t>Every Gulf business needs daily marketing in two languages across six channels. Almost none have a marketer.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3093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55B60"/>
                </a:solidFill>
                <a:latin typeface="Avenir Next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918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035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953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8755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1673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8988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51790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591056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4708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2024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4825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21408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7744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45059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57860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651760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0779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98094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0896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182112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3814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51129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3931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712464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96849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04164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6966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42816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49884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70001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773168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10235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23036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30352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55955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63270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76072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83387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08990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6305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29107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36422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62025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69340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82142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894576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15060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22376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5177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24928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68096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75411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88212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955280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21131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28446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41248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485632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74166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81481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94283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015984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27201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34516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47318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546336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80236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87552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000353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076688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33272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40587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3388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60704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86307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93622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106424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113739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139342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146657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59459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166774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192377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199692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212494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31520" y="2377440"/>
            <a:ext cx="10698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01418"/>
                </a:solidFill>
                <a:latin typeface="Avenir Next"/>
              </a:rPr>
              <a:t>•  40k+ Salla and Zid stores, 100k+ SMEs on Snap/TikTok ads — most run by the owner, at night.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01418"/>
                </a:solidFill>
                <a:latin typeface="Avenir Next"/>
              </a:rPr>
              <a:t>•  Freelancers and agencies charge SAR 2–6k/month for inconsistent Arabic content and zero accountability.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01418"/>
                </a:solidFill>
                <a:latin typeface="Avenir Next"/>
              </a:rPr>
              <a:t>•  Ads are tuned by gut. Seasons (Ramadan, National Day, White Friday) arrive unplanned.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01418"/>
                </a:solidFill>
                <a:latin typeface="Avenir Next"/>
              </a:rPr>
              <a:t>•  Leads land on WhatsApp and go cold. No one follows up.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01418"/>
                </a:solidFill>
                <a:latin typeface="Avenir Next"/>
              </a:rPr>
              <a:t>•  Global AI tools are English-first, non-agentic, and blind to Gulf channels, payments, and calendar.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B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2B33D"/>
                </a:solidFill>
                <a:latin typeface="Avenir Next"/>
              </a:rPr>
              <a:t>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9F0EC"/>
                </a:solidFill>
                <a:latin typeface="Avenir Next"/>
              </a:rPr>
              <a:t>Noor: an AI agent that plans, creates, publishes, tunes ads, and reports — you only approve.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3093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A9BFB8"/>
                </a:solidFill>
                <a:latin typeface="Avenir Next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918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035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953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8755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1673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8988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51790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591056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4708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2024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4825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21408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7744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45059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57860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651760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0779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98094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0896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182112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3814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51129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3931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712464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96849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04164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6966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42816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49884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70001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773168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10235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23036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30352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55955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63270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76072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83387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08990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6305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29107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36422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62025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69340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82142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894576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15060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22376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5177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24928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68096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75411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88212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955280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21131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28446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41248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485632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74166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81481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94283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015984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27201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34516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47318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546336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80236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87552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000353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076688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33272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40587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3388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60704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86307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93622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106424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113739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139342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146657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59459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166774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192377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199692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212494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731520" y="2377440"/>
            <a:ext cx="2057400" cy="3108960"/>
          </a:xfrm>
          <a:prstGeom prst="roundRect">
            <a:avLst/>
          </a:prstGeom>
          <a:solidFill>
            <a:srgbClr val="0F3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914400" y="25146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2B33D"/>
                </a:solidFill>
                <a:latin typeface="Avenir Next"/>
              </a:rPr>
              <a:t>Connect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14400" y="3017520"/>
            <a:ext cx="1737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9F0EC"/>
                </a:solidFill>
                <a:latin typeface="Avenir Next"/>
              </a:rPr>
              <a:t>Salla · Zid · Shopify · Snap · TikTok · Meta · Google · WhatsApp — one-click OAuth.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2971800" y="2377440"/>
            <a:ext cx="2057400" cy="3108960"/>
          </a:xfrm>
          <a:prstGeom prst="roundRect">
            <a:avLst/>
          </a:prstGeom>
          <a:solidFill>
            <a:srgbClr val="0F3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154680" y="25146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2B33D"/>
                </a:solidFill>
                <a:latin typeface="Avenir Next"/>
              </a:rPr>
              <a:t>Learn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154680" y="3017520"/>
            <a:ext cx="1737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9F0EC"/>
                </a:solidFill>
                <a:latin typeface="Avenir Next"/>
              </a:rPr>
              <a:t>Brand voice file: dialect, tone, banned words, competitors. Improves with every edit.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5212080" y="2377440"/>
            <a:ext cx="2057400" cy="3108960"/>
          </a:xfrm>
          <a:prstGeom prst="roundRect">
            <a:avLst/>
          </a:prstGeom>
          <a:solidFill>
            <a:srgbClr val="0F3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394960" y="25146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2B33D"/>
                </a:solidFill>
                <a:latin typeface="Avenir Next"/>
              </a:rPr>
              <a:t>Plan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394960" y="3017520"/>
            <a:ext cx="1737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9F0EC"/>
                </a:solidFill>
                <a:latin typeface="Avenir Next"/>
              </a:rPr>
              <a:t>Weekly plan from your real numbers and the Gulf calendar, 4 weeks ahead of every season.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7452360" y="2377440"/>
            <a:ext cx="2057400" cy="3108960"/>
          </a:xfrm>
          <a:prstGeom prst="roundRect">
            <a:avLst/>
          </a:prstGeom>
          <a:solidFill>
            <a:srgbClr val="0F3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635240" y="25146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2B33D"/>
                </a:solidFill>
                <a:latin typeface="Avenir Next"/>
              </a:rPr>
              <a:t>Execute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635240" y="3017520"/>
            <a:ext cx="1737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9F0EC"/>
                </a:solidFill>
                <a:latin typeface="Avenir Next"/>
              </a:rPr>
              <a:t>Posts, articles, WhatsApp flows, ad budget moves — inside guardrails you set.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9692640" y="2377440"/>
            <a:ext cx="2057400" cy="3108960"/>
          </a:xfrm>
          <a:prstGeom prst="roundRect">
            <a:avLst/>
          </a:prstGeom>
          <a:solidFill>
            <a:srgbClr val="0F3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9875520" y="25146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2B33D"/>
                </a:solidFill>
                <a:latin typeface="Avenir Next"/>
              </a:rPr>
              <a:t>Report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875520" y="3017520"/>
            <a:ext cx="1737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9F0EC"/>
                </a:solidFill>
                <a:latin typeface="Avenir Next"/>
              </a:rPr>
              <a:t>08:00 WhatsApp brief: revenue, ROAS, what she did, what needs a yes.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D9503F"/>
                </a:solidFill>
                <a:latin typeface="Avenir Next"/>
              </a:rPr>
              <a:t>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0F3D3A"/>
                </a:solidFill>
                <a:latin typeface="Avenir Next"/>
              </a:rPr>
              <a:t>A week with Noor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3093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55B60"/>
                </a:solidFill>
                <a:latin typeface="Avenir Next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918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035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953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8755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1673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8988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51790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591056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4708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2024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4825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21408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7744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45059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57860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651760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0779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98094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0896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182112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3814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51129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3931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712464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96849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04164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6966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42816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49884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70001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773168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10235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23036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30352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55955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63270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76072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83387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08990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6305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29107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36422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62025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69340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82142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894576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15060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22376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5177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24928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68096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75411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88212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955280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21131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28446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41248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485632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74166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81481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94283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015984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27201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34516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47318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546336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80236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87552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000353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076688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33272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40587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3388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60704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86307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93622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106424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113739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139342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146657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59459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166774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192377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199692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212494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7" name="Table 96"/>
          <p:cNvGraphicFramePr>
            <a:graphicFrameLocks noGrp="1"/>
          </p:cNvGraphicFramePr>
          <p:nvPr/>
        </p:nvGraphicFramePr>
        <p:xfrm>
          <a:off x="731520" y="228600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6309360"/>
                <a:gridCol w="219456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9F0EC"/>
                          </a:solidFill>
                          <a:latin typeface="Avenir Next"/>
                        </a:rPr>
                        <a:t>When</a:t>
                      </a:r>
                    </a:p>
                  </a:txBody>
                  <a:tcPr>
                    <a:solidFill>
                      <a:srgbClr val="0F3D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9F0EC"/>
                          </a:solidFill>
                          <a:latin typeface="Avenir Next"/>
                        </a:rPr>
                        <a:t>What happens</a:t>
                      </a:r>
                    </a:p>
                  </a:txBody>
                  <a:tcPr>
                    <a:solidFill>
                      <a:srgbClr val="0F3D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9F0EC"/>
                          </a:solidFill>
                          <a:latin typeface="Avenir Next"/>
                        </a:rPr>
                        <a:t>Agent</a:t>
                      </a:r>
                    </a:p>
                  </a:txBody>
                  <a:tcPr>
                    <a:solidFill>
                      <a:srgbClr val="0F3D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1418"/>
                          </a:solidFill>
                          <a:latin typeface="Avenir Next"/>
                        </a:rPr>
                        <a:t>Sunday morning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1418"/>
                          </a:solidFill>
                          <a:latin typeface="Avenir Next"/>
                        </a:rPr>
                        <a:t>Drafts the brand's weekly plan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1418"/>
                          </a:solidFill>
                          <a:latin typeface="Avenir Next"/>
                        </a:rPr>
                        <a:t>Noor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1418"/>
                          </a:solidFill>
                          <a:latin typeface="Avenir Next"/>
                        </a:rPr>
                        <a:t>When you ask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1418"/>
                          </a:solidFill>
                          <a:latin typeface="Avenir Next"/>
                        </a:rPr>
                        <a:t>Posts, articles, WhatsApp messages and ad copy in the brand's voice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1418"/>
                          </a:solidFill>
                          <a:latin typeface="Avenir Next"/>
                        </a:rPr>
                        <a:t>Noor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1418"/>
                          </a:solidFill>
                          <a:latin typeface="Avenir Next"/>
                        </a:rPr>
                        <a:t>When you ask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1418"/>
                          </a:solidFill>
                          <a:latin typeface="Avenir Next"/>
                        </a:rPr>
                        <a:t>Pricing review, customer follow-up sequences, reports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1418"/>
                          </a:solidFill>
                          <a:latin typeface="Avenir Next"/>
                        </a:rPr>
                        <a:t>Razan · Sami · Dana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1418"/>
                          </a:solidFill>
                          <a:latin typeface="Avenir Next"/>
                        </a:rPr>
                        <a:t>Every day, 08:00 KSA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1418"/>
                          </a:solidFill>
                          <a:latin typeface="Avenir Next"/>
                        </a:rPr>
                        <a:t>Morning brief in the app: what waits for approval, credits, seasons ahead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1418"/>
                          </a:solidFill>
                          <a:latin typeface="Avenir Next"/>
                        </a:rPr>
                        <a:t>Noor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</a:tr>
            </a:tbl>
          </a:graphicData>
        </a:graphic>
      </p:graphicFrame>
      <p:sp>
        <p:nvSpPr>
          <p:cNvPr id="98" name="TextBox 97"/>
          <p:cNvSpPr txBox="1"/>
          <p:nvPr/>
        </p:nvSpPr>
        <p:spPr>
          <a:xfrm>
            <a:off x="731520" y="53949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55B60"/>
                </a:solidFill>
                <a:latin typeface="Avenir Next"/>
              </a:rPr>
              <a:t>An illustrative example, not a real account. Nothing is published before you approve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B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2B33D"/>
                </a:solidFill>
                <a:latin typeface="Avenir Next"/>
              </a:rPr>
              <a:t>TIMING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9F0EC"/>
                </a:solidFill>
                <a:latin typeface="Avenir Next"/>
              </a:rPr>
              <a:t>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3093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A9BFB8"/>
                </a:solidFill>
                <a:latin typeface="Avenir Next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918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035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953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8755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1673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8988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51790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591056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4708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2024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4825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21408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7744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45059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57860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651760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0779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98094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0896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182112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3814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51129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3931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712464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96849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04164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6966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42816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49884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70001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773168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10235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23036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30352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55955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63270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76072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83387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08990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6305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29107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36422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62025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69340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82142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894576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15060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22376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5177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24928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68096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75411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88212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955280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21131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28446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41248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485632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74166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81481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94283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015984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27201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34516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47318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546336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80236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87552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000353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076688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33272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40587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3388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60704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86307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93622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106424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113739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139342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146657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59459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166774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192377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199692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212494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31520" y="228600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2B33D"/>
                </a:solidFill>
                <a:latin typeface="Avenir Next"/>
              </a:rPr>
              <a:t>90%+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31520" y="306324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A9BFB8"/>
                </a:solidFill>
                <a:latin typeface="Avenir Next"/>
              </a:rPr>
              <a:t>of Saudi internet users on Snapchat; TikTok Shop live in KSA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566160" y="228600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2B33D"/>
                </a:solidFill>
                <a:latin typeface="Avenir Next"/>
              </a:rPr>
              <a:t>40k+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566160" y="306324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A9BFB8"/>
                </a:solidFill>
                <a:latin typeface="Avenir Next"/>
              </a:rPr>
              <a:t>Salla/Zid merchants — an app-store distribution channel that didn't exist 4 years ago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400800" y="228600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2B33D"/>
                </a:solidFill>
                <a:latin typeface="Avenir Next"/>
              </a:rPr>
              <a:t>$39→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400800" y="306324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A9BFB8"/>
                </a:solidFill>
                <a:latin typeface="Avenir Next"/>
              </a:rPr>
              <a:t>Agentic marketing proven in the US (Enrich Labs, 1,400+ businesses in 18 months)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31520" y="448056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E9F0EC"/>
                </a:solidFill>
                <a:latin typeface="Avenir Next"/>
              </a:rPr>
              <a:t>Frontier models now write Gulf Arabic well enough to ship with a human QA loop. WhatsApp Business API is open. Agent frameworks are mature. The window to own “the marketer for Salla stores” is 12–18 months.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D9503F"/>
                </a:solidFill>
                <a:latin typeface="Avenir Next"/>
              </a:rPr>
              <a:t>SIZE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0F3D3A"/>
                </a:solidFill>
                <a:latin typeface="Avenir Next"/>
              </a:rPr>
              <a:t>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3093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55B60"/>
                </a:solidFill>
                <a:latin typeface="Avenir Next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918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035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953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8755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1673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8988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51790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591056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4708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2024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4825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21408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7744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45059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57860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651760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0779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98094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0896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182112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3814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51129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3931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712464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96849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04164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6966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42816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49884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70001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773168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10235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23036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30352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55955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63270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76072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83387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08990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6305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29107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36422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62025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69340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82142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894576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15060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22376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5177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24928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68096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75411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88212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955280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21131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28446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41248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485632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74166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81481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94283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015984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27201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34516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47318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546336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80236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87552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000353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076688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33272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40587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3388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60704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86307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93622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106424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113739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139342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146657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59459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166774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192377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199692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212494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31520" y="219456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0F3D3A"/>
                </a:solidFill>
                <a:latin typeface="Avenir Next"/>
              </a:rPr>
              <a:t>SAR 9B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31520" y="297180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55B60"/>
                </a:solidFill>
                <a:latin typeface="Avenir Next"/>
              </a:rPr>
              <a:t>GCC digital ad spend 2026 (SAM proxy: SMB share ~35%)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840480" y="219456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0F3D3A"/>
                </a:solidFill>
                <a:latin typeface="Avenir Next"/>
              </a:rPr>
              <a:t>1.2M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840480" y="297180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55B60"/>
                </a:solidFill>
                <a:latin typeface="Avenir Next"/>
              </a:rPr>
              <a:t>SMEs in KSA (Monsha'at); ~300k actively advertising online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949440" y="219456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0F3D3A"/>
                </a:solidFill>
                <a:latin typeface="Avenir Next"/>
              </a:rPr>
              <a:t>SAR 1.4B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949440" y="297180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55B60"/>
                </a:solidFill>
                <a:latin typeface="Avenir Next"/>
              </a:rPr>
              <a:t>Serviceable: 300k SMBs × SAR 4.8k/yr blended ARPA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31520" y="420624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55B60"/>
                </a:solidFill>
                <a:latin typeface="Avenir Next"/>
              </a:rPr>
              <a:t>Beachhead: KSA e-commerce (Salla, Zid, Shopify) → real estate, legal, startups, clinics, restaurants, agencies.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55B60"/>
                </a:solidFill>
                <a:latin typeface="Avenir Next"/>
              </a:rPr>
              <a:t>Expansion: UAE and Kuwait in year 2 (same channels, same calendar, AED/KWD billing).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B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2B33D"/>
                </a:solidFill>
                <a:latin typeface="Avenir Next"/>
              </a:rPr>
              <a:t>BUSINESS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9F0EC"/>
                </a:solidFill>
                <a:latin typeface="Avenir Next"/>
              </a:rPr>
              <a:t>Subscription + credits. Cheaper than one hire, faster than an agency.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3093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A9BFB8"/>
                </a:solidFill>
                <a:latin typeface="Avenir Next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918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035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953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8755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1673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8988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51790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591056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4708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2024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4825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21408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7744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45059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57860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651760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0779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98094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0896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182112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3814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51129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3931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712464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96849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04164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6966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42816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49884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70001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773168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10235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23036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30352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55955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63270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76072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83387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08990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6305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29107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36422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62025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69340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82142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894576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15060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22376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5177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24928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68096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75411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88212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955280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21131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28446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41248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485632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74166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81481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94283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015984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27201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34516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47318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546336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80236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87552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000353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076688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33272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40587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3388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60704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86307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93622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106424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113739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139342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146657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59459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166774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192377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199692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212494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7" name="Table 96"/>
          <p:cNvGraphicFramePr>
            <a:graphicFrameLocks noGrp="1"/>
          </p:cNvGraphicFramePr>
          <p:nvPr/>
        </p:nvGraphicFramePr>
        <p:xfrm>
          <a:off x="731520" y="228600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194560"/>
                <a:gridCol w="2011680"/>
                <a:gridCol w="1828800"/>
                <a:gridCol w="320040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9F0EC"/>
                          </a:solidFill>
                          <a:latin typeface="Avenir Next"/>
                        </a:rPr>
                        <a:t>Plan</a:t>
                      </a:r>
                    </a:p>
                  </a:txBody>
                  <a:tcPr>
                    <a:solidFill>
                      <a:srgbClr val="0F3D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9F0EC"/>
                          </a:solidFill>
                          <a:latin typeface="Avenir Next"/>
                        </a:rPr>
                        <a:t>SAR / month + VAT</a:t>
                      </a:r>
                    </a:p>
                  </a:txBody>
                  <a:tcPr>
                    <a:solidFill>
                      <a:srgbClr val="0F3D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9F0EC"/>
                          </a:solidFill>
                          <a:latin typeface="Avenir Next"/>
                        </a:rPr>
                        <a:t>Credits / month</a:t>
                      </a:r>
                    </a:p>
                  </a:txBody>
                  <a:tcPr>
                    <a:solidFill>
                      <a:srgbClr val="0F3D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9F0EC"/>
                          </a:solidFill>
                          <a:latin typeface="Avenir Next"/>
                        </a:rPr>
                        <a:t>Seats</a:t>
                      </a:r>
                    </a:p>
                  </a:txBody>
                  <a:tcPr>
                    <a:solidFill>
                      <a:srgbClr val="0F3D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9F0EC"/>
                          </a:solidFill>
                          <a:latin typeface="Avenir Next"/>
                        </a:rPr>
                        <a:t>For</a:t>
                      </a:r>
                    </a:p>
                  </a:txBody>
                  <a:tcPr>
                    <a:solidFill>
                      <a:srgbClr val="0F3D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Starter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299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300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1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Solo sellers, creators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Pro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499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700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3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Founders, stores, clinics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Business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999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1,500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7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Bigger teams and businesses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Agency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Contact us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from 1,500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sized to the team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Agencies and large groups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</a:tr>
            </a:tbl>
          </a:graphicData>
        </a:graphic>
      </p:graphicFrame>
      <p:sp>
        <p:nvSpPr>
          <p:cNvPr id="98" name="TextBox 97"/>
          <p:cNvSpPr txBox="1"/>
          <p:nvPr/>
        </p:nvSpPr>
        <p:spPr>
          <a:xfrm>
            <a:off x="731520" y="45720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A9BFB8"/>
                </a:solidFill>
                <a:latin typeface="Avenir Next"/>
              </a:rPr>
              <a:t>Credits meter each task's real model and media cost; the cost of every task is on thakeen.com/pricing. Monthly credits do not roll over; paid plans can add top-up packs.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A9BFB8"/>
                </a:solidFill>
                <a:latin typeface="Avenir Next"/>
              </a:rPr>
              <a:t>Free trial, no card. Prices are in SAR and exclude VAT.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D9503F"/>
                </a:solidFill>
                <a:latin typeface="Avenir Next"/>
              </a:rPr>
              <a:t>MOAT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0F3D3A"/>
                </a:solidFill>
                <a:latin typeface="Avenir Next"/>
              </a:rPr>
              <a:t>Why a US player can't just localize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3093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55B60"/>
                </a:solidFill>
                <a:latin typeface="Avenir Next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918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035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953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8755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1673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8988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51790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591056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4708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2024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4825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21408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7744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45059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57860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651760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0779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98094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0896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182112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3814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51129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3931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712464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96849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04164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6966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42816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49884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70001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773168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10235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23036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30352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55955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63270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76072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83387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08990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6305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29107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36422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62025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69340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82142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894576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15060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22376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5177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24928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68096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75411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88212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955280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21131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28446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41248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485632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74166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81481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94283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015984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27201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34516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47318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546336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80236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87552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000353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076688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33272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40587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3388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60704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86307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93622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106424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113739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139342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146657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59459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166774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192377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199692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212494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7" name="Table 96"/>
          <p:cNvGraphicFramePr>
            <a:graphicFrameLocks noGrp="1"/>
          </p:cNvGraphicFramePr>
          <p:nvPr/>
        </p:nvGraphicFramePr>
        <p:xfrm>
          <a:off x="731520" y="2194560"/>
          <a:ext cx="106984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200400"/>
                <a:gridCol w="566928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E9F0EC"/>
                          </a:solidFill>
                          <a:latin typeface="Avenir Next"/>
                        </a:rPr>
                        <a:t/>
                      </a:r>
                    </a:p>
                  </a:txBody>
                  <a:tcPr>
                    <a:solidFill>
                      <a:srgbClr val="0F3D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E9F0EC"/>
                          </a:solidFill>
                          <a:latin typeface="Avenir Next"/>
                        </a:rPr>
                        <a:t>Enrich Labs (Helena)</a:t>
                      </a:r>
                    </a:p>
                  </a:txBody>
                  <a:tcPr>
                    <a:solidFill>
                      <a:srgbClr val="0F3D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E9F0EC"/>
                          </a:solidFill>
                          <a:latin typeface="Avenir Next"/>
                        </a:rPr>
                        <a:t>Nashr (Noor)</a:t>
                      </a:r>
                    </a:p>
                  </a:txBody>
                  <a:tcPr>
                    <a:solidFill>
                      <a:srgbClr val="0F3D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01418"/>
                          </a:solidFill>
                          <a:latin typeface="Avenir Next"/>
                        </a:rPr>
                        <a:t>Language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01418"/>
                          </a:solidFill>
                          <a:latin typeface="Avenir Next"/>
                        </a:rPr>
                        <a:t>English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01418"/>
                          </a:solidFill>
                          <a:latin typeface="Avenir Next"/>
                        </a:rPr>
                        <a:t>Arabic, dialect-aware (Saudi / Emirati / Kuwaiti) + English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01418"/>
                          </a:solidFill>
                          <a:latin typeface="Avenir Next"/>
                        </a:rPr>
                        <a:t>Ads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01418"/>
                          </a:solidFill>
                          <a:latin typeface="Avenir Next"/>
                        </a:rPr>
                        <a:t>Meta, Google, TikTok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01418"/>
                          </a:solidFill>
                          <a:latin typeface="Avenir Next"/>
                        </a:rPr>
                        <a:t>Snapchat first, TikTok, Meta, Google, X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01418"/>
                          </a:solidFill>
                          <a:latin typeface="Avenir Next"/>
                        </a:rPr>
                        <a:t>Owned channel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01418"/>
                          </a:solidFill>
                          <a:latin typeface="Avenir Next"/>
                        </a:rPr>
                        <a:t>Email (Klaviyo)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01418"/>
                          </a:solidFill>
                          <a:latin typeface="Avenir Next"/>
                        </a:rPr>
                        <a:t>WhatsApp Business API (+SMS, email)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01418"/>
                          </a:solidFill>
                          <a:latin typeface="Avenir Next"/>
                        </a:rPr>
                        <a:t>Commerce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01418"/>
                          </a:solidFill>
                          <a:latin typeface="Avenir Next"/>
                        </a:rPr>
                        <a:t>Shopify, Woo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01418"/>
                          </a:solidFill>
                          <a:latin typeface="Avenir Next"/>
                        </a:rPr>
                        <a:t>Salla, Zid, Shopify, Woo — app-store distribution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01418"/>
                          </a:solidFill>
                          <a:latin typeface="Avenir Next"/>
                        </a:rPr>
                        <a:t>Calendar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01418"/>
                          </a:solidFill>
                          <a:latin typeface="Avenir Next"/>
                        </a:rPr>
                        <a:t>US retail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01418"/>
                          </a:solidFill>
                          <a:latin typeface="Avenir Next"/>
                        </a:rPr>
                        <a:t>Hijri + national days + White Friday + DSF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01418"/>
                          </a:solidFill>
                          <a:latin typeface="Avenir Next"/>
                        </a:rPr>
                        <a:t>Payments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01418"/>
                          </a:solidFill>
                          <a:latin typeface="Avenir Next"/>
                        </a:rPr>
                        <a:t>Stripe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01418"/>
                          </a:solidFill>
                          <a:latin typeface="Avenir Next"/>
                        </a:rPr>
                        <a:t>Tap / Moyasar, mada, Tabby/Tamara awareness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B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2B33D"/>
                </a:solidFill>
                <a:latin typeface="Avenir Next"/>
              </a:rPr>
              <a:t>GTM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9F0EC"/>
                </a:solidFill>
                <a:latin typeface="Avenir Next"/>
              </a:rPr>
              <a:t>Go-to-market: distribution we don't have to buy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3093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A9BFB8"/>
                </a:solidFill>
                <a:latin typeface="Avenir Next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918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035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953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8755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1673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8988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51790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591056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4708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2024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4825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21408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7744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45059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57860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651760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0779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98094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0896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182112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3814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51129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3931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712464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96849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04164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6966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42816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49884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70001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773168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10235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23036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30352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55955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63270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76072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83387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08990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6305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29107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36422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62025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69340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82142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894576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15060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22376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5177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24928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68096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75411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88212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955280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21131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28446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41248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485632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74166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81481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94283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015984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27201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34516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47318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546336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80236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87552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000353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076688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33272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40587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3388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60704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86307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93622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106424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113739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139342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146657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59459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166774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192377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199692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212494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31520" y="228600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E9F0EC"/>
                </a:solidFill>
                <a:latin typeface="Avenir Next"/>
              </a:rPr>
              <a:t>•  Salla + Zid app stores — “Noor for Salla”.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E9F0EC"/>
                </a:solidFill>
                <a:latin typeface="Avenir Next"/>
              </a:rPr>
              <a:t>•  Founder-led Arabic content: free tools (hook generator, Ramadan planner, Snap audit), weekly threads, YouTube teardowns.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E9F0EC"/>
                </a:solidFill>
                <a:latin typeface="Avenir Next"/>
              </a:rPr>
              <a:t>•  Agency white-label: 25% rev-share; agencies bring 5–10 brands each.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E9F0EC"/>
                </a:solidFill>
                <a:latin typeface="Avenir Next"/>
              </a:rPr>
              <a:t>•  Partnerships: Tap/Moyasar merchant base, Monsha'at programs, Snap KSA partner team, TikTok Shop MENA.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E9F0EC"/>
                </a:solidFill>
                <a:latin typeface="Avenir Next"/>
              </a:rPr>
              <a:t>•  Paid: Snap + Meta to merchants; LinkedIn to real-estate and agencies.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583680" y="2286000"/>
            <a:ext cx="4846320" cy="3474720"/>
          </a:xfrm>
          <a:prstGeom prst="roundRect">
            <a:avLst/>
          </a:prstGeom>
          <a:solidFill>
            <a:srgbClr val="0F3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858000" y="24688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2B33D"/>
                </a:solidFill>
                <a:latin typeface="Avenir Next"/>
              </a:rPr>
              <a:t>Launch sequence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858000" y="2926080"/>
            <a:ext cx="4389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E9F0EC"/>
                </a:solidFill>
                <a:latin typeface="Avenir Next"/>
              </a:rPr>
              <a:t>•  Now: waitlist live (nashr site, AR/EN)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E9F0EC"/>
                </a:solidFill>
                <a:latin typeface="Avenir Next"/>
              </a:rPr>
              <a:t>•  Weeks 4–8: 20 design partners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E9F0EC"/>
                </a:solidFill>
                <a:latin typeface="Avenir Next"/>
              </a:rPr>
              <a:t>•  Week 10: Salla app-store beta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E9F0EC"/>
                </a:solidFill>
                <a:latin typeface="Avenir Next"/>
              </a:rPr>
              <a:t>•  November: public launch before White Friday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E9F0EC"/>
                </a:solidFill>
                <a:latin typeface="Avenir Next"/>
              </a:rPr>
              <a:t>•  Month 6: 300 paying brands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D9503F"/>
                </a:solidFill>
                <a:latin typeface="Avenir Next"/>
              </a:rPr>
              <a:t>MILESTONES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0F3D3A"/>
                </a:solidFill>
                <a:latin typeface="Avenir Next"/>
              </a:rPr>
              <a:t>Traction plan and targets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3093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55B60"/>
                </a:solidFill>
                <a:latin typeface="Avenir Next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918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035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953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8755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1673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8988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51790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591056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4708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2024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4825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21408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7744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45059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57860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651760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0779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98094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0896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182112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3814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51129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3931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712464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96849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04164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6966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42816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49884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70001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773168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10235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23036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30352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55955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63270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76072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83387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08990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6305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29107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36422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62025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69340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82142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894576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15060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22376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5177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24928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68096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75411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88212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955280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21131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28446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41248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485632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74166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81481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94283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015984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27201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34516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47318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546336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80236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87552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000353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076688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33272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40587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3388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60704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86307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93622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106424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113739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139342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146657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59459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166774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192377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199692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212494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7" name="Table 96"/>
          <p:cNvGraphicFramePr>
            <a:graphicFrameLocks noGrp="1"/>
          </p:cNvGraphicFramePr>
          <p:nvPr/>
        </p:nvGraphicFramePr>
        <p:xfrm>
          <a:off x="731520" y="2286000"/>
          <a:ext cx="10698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103120"/>
                <a:gridCol w="2103120"/>
                <a:gridCol w="2103120"/>
                <a:gridCol w="2103120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E9F0EC"/>
                          </a:solidFill>
                          <a:latin typeface="Avenir Next"/>
                        </a:rPr>
                        <a:t/>
                      </a:r>
                    </a:p>
                  </a:txBody>
                  <a:tcPr>
                    <a:solidFill>
                      <a:srgbClr val="0F3D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E9F0EC"/>
                          </a:solidFill>
                          <a:latin typeface="Avenir Next"/>
                        </a:rPr>
                        <a:t>Month 3</a:t>
                      </a:r>
                    </a:p>
                  </a:txBody>
                  <a:tcPr>
                    <a:solidFill>
                      <a:srgbClr val="0F3D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E9F0EC"/>
                          </a:solidFill>
                          <a:latin typeface="Avenir Next"/>
                        </a:rPr>
                        <a:t>Month 6</a:t>
                      </a:r>
                    </a:p>
                  </a:txBody>
                  <a:tcPr>
                    <a:solidFill>
                      <a:srgbClr val="0F3D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E9F0EC"/>
                          </a:solidFill>
                          <a:latin typeface="Avenir Next"/>
                        </a:rPr>
                        <a:t>Month 12</a:t>
                      </a:r>
                    </a:p>
                  </a:txBody>
                  <a:tcPr>
                    <a:solidFill>
                      <a:srgbClr val="0F3D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E9F0EC"/>
                          </a:solidFill>
                          <a:latin typeface="Avenir Next"/>
                        </a:rPr>
                        <a:t>Month 24</a:t>
                      </a:r>
                    </a:p>
                  </a:txBody>
                  <a:tcPr>
                    <a:solidFill>
                      <a:srgbClr val="0F3D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Paying brands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80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220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970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4,800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MRR (SAR)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33k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97k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436k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2.2M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Acceptance rate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80%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88%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93%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95%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Gross margin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70%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72%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74%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74%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Team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4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8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12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17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</a:tr>
            </a:tbl>
          </a:graphicData>
        </a:graphic>
      </p:graphicFrame>
      <p:sp>
        <p:nvSpPr>
          <p:cNvPr id="98" name="TextBox 97"/>
          <p:cNvSpPr txBox="1"/>
          <p:nvPr/>
        </p:nvSpPr>
        <p:spPr>
          <a:xfrm>
            <a:off x="731520" y="48463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55B60"/>
                </a:solidFill>
                <a:latin typeface="Avenir Next"/>
              </a:rPr>
              <a:t>Leading indicator we watch weekly: approved actions per brand per week. Lagging: net revenue retention ≥ 100%.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B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2B33D"/>
                </a:solidFill>
                <a:latin typeface="Avenir Next"/>
              </a:rPr>
              <a:t>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9F0EC"/>
                </a:solidFill>
                <a:latin typeface="Avenir Next"/>
              </a:rPr>
              <a:t>Competition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3093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A9BFB8"/>
                </a:solidFill>
                <a:latin typeface="Avenir Next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918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035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953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8755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1673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8988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51790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591056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4708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2024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4825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21408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7744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45059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57860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651760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0779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98094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0896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182112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3814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51129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3931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712464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96849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04164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6966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42816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49884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70001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773168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10235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23036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30352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55955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63270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76072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83387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08990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6305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29107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36422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62025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69340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82142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894576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15060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22376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5177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24928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68096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75411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88212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955280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21131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28446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41248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485632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74166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81481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94283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015984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27201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34516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47318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546336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80236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87552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000353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076688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33272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40587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3388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60704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86307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93622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106424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113739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139342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146657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59459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166774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192377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199692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212494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7" name="Table 96"/>
          <p:cNvGraphicFramePr>
            <a:graphicFrameLocks noGrp="1"/>
          </p:cNvGraphicFramePr>
          <p:nvPr/>
        </p:nvGraphicFramePr>
        <p:xfrm>
          <a:off x="731520" y="2194560"/>
          <a:ext cx="106984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651760"/>
                <a:gridCol w="2194560"/>
                <a:gridCol w="310896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9F0EC"/>
                          </a:solidFill>
                          <a:latin typeface="Avenir Next"/>
                        </a:rPr>
                        <a:t/>
                      </a:r>
                    </a:p>
                  </a:txBody>
                  <a:tcPr>
                    <a:solidFill>
                      <a:srgbClr val="0F3D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9F0EC"/>
                          </a:solidFill>
                          <a:latin typeface="Avenir Next"/>
                        </a:rPr>
                        <a:t>Agentic (does the work)</a:t>
                      </a:r>
                    </a:p>
                  </a:txBody>
                  <a:tcPr>
                    <a:solidFill>
                      <a:srgbClr val="0F3D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9F0EC"/>
                          </a:solidFill>
                          <a:latin typeface="Avenir Next"/>
                        </a:rPr>
                        <a:t>Gulf-native</a:t>
                      </a:r>
                    </a:p>
                  </a:txBody>
                  <a:tcPr>
                    <a:solidFill>
                      <a:srgbClr val="0F3D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9F0EC"/>
                          </a:solidFill>
                          <a:latin typeface="Avenir Next"/>
                        </a:rPr>
                        <a:t>Ads + WhatsApp + content in one</a:t>
                      </a:r>
                    </a:p>
                  </a:txBody>
                  <a:tcPr>
                    <a:solidFill>
                      <a:srgbClr val="0F3D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Nashr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✓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✓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✓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Enrich Labs / Helena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✓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✗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partial (email, not WhatsApp)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Jasper, Copy.ai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✗ (writes only)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✗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✗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Hootsuite, Predis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✗ (schedules only)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✗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✗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Local agencies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✓ (humans)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✓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✓ at 10× the price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Salla/Zid built-in tools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✗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✓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F0EC"/>
                          </a:solidFill>
                          <a:latin typeface="Avenir Next"/>
                        </a:rPr>
                        <a:t>✗</a:t>
                      </a:r>
                    </a:p>
                  </a:txBody>
                  <a:tcPr>
                    <a:solidFill>
                      <a:srgbClr val="0A2B2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D9503F"/>
                </a:solidFill>
                <a:latin typeface="Avenir Next"/>
              </a:rPr>
              <a:t>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0F3D3A"/>
                </a:solidFill>
                <a:latin typeface="Avenir Next"/>
              </a:rPr>
              <a:t>Financials (base case, SAR)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3093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55B60"/>
                </a:solidFill>
                <a:latin typeface="Avenir Next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918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035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953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8755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1673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8988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51790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591056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4708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2024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4825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21408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7744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45059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57860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651760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0779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98094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0896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182112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3814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51129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3931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712464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96849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04164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6966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42816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49884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70001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773168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10235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23036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30352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55955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63270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76072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83387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08990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6305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29107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36422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62025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69340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82142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894576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15060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22376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5177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24928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68096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75411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88212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955280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21131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28446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41248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485632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74166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81481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94283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015984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27201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34516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47318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546336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80236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87552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000353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076688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33272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40587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3388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60704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86307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93622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106424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113739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139342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146657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59459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166774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192377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199692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212494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7" name="Table 96"/>
          <p:cNvGraphicFramePr>
            <a:graphicFrameLocks noGrp="1"/>
          </p:cNvGraphicFramePr>
          <p:nvPr/>
        </p:nvGraphicFramePr>
        <p:xfrm>
          <a:off x="731520" y="2286000"/>
          <a:ext cx="65836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371600"/>
                <a:gridCol w="1371600"/>
                <a:gridCol w="1371600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E9F0EC"/>
                          </a:solidFill>
                          <a:latin typeface="Avenir Next"/>
                        </a:rPr>
                        <a:t/>
                      </a:r>
                    </a:p>
                  </a:txBody>
                  <a:tcPr>
                    <a:solidFill>
                      <a:srgbClr val="0F3D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E9F0EC"/>
                          </a:solidFill>
                          <a:latin typeface="Avenir Next"/>
                        </a:rPr>
                        <a:t>Year 1</a:t>
                      </a:r>
                    </a:p>
                  </a:txBody>
                  <a:tcPr>
                    <a:solidFill>
                      <a:srgbClr val="0F3D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E9F0EC"/>
                          </a:solidFill>
                          <a:latin typeface="Avenir Next"/>
                        </a:rPr>
                        <a:t>Year 2</a:t>
                      </a:r>
                    </a:p>
                  </a:txBody>
                  <a:tcPr>
                    <a:solidFill>
                      <a:srgbClr val="0F3D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E9F0EC"/>
                          </a:solidFill>
                          <a:latin typeface="Avenir Next"/>
                        </a:rPr>
                        <a:t>Year 3</a:t>
                      </a:r>
                    </a:p>
                  </a:txBody>
                  <a:tcPr>
                    <a:solidFill>
                      <a:srgbClr val="0F3D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Revenue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1.9M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15.1M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43.2M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Gross margin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74%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74%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74%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EBITDA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(2.1M)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3.4M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18.8M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Ending paying brands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970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4,830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10,690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Ending headcount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12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17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01418"/>
                          </a:solidFill>
                          <a:latin typeface="Avenir Next"/>
                        </a:rPr>
                        <a:t>30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</a:tr>
            </a:tbl>
          </a:graphicData>
        </a:graphic>
      </p:graphicFrame>
      <p:sp>
        <p:nvSpPr>
          <p:cNvPr id="98" name="Rounded Rectangle 97"/>
          <p:cNvSpPr/>
          <p:nvPr/>
        </p:nvSpPr>
        <p:spPr>
          <a:xfrm>
            <a:off x="7863840" y="2286000"/>
            <a:ext cx="3566160" cy="3291840"/>
          </a:xfrm>
          <a:prstGeom prst="roundRect">
            <a:avLst/>
          </a:prstGeom>
          <a:solidFill>
            <a:srgbClr val="0F3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38160" y="24688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2B33D"/>
                </a:solidFill>
                <a:latin typeface="Avenir Next"/>
              </a:rPr>
              <a:t>Unit economics (blended)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138160" y="2926080"/>
            <a:ext cx="3108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E9F0EC"/>
                </a:solidFill>
                <a:latin typeface="Avenir Next"/>
              </a:rPr>
              <a:t>•  ARPA SAR 452/mo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E9F0EC"/>
                </a:solidFill>
                <a:latin typeface="Avenir Next"/>
              </a:rPr>
              <a:t>•  Gross profit / brand SAR 336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E9F0EC"/>
                </a:solidFill>
                <a:latin typeface="Avenir Next"/>
              </a:rPr>
              <a:t>•  CAC SAR 650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E9F0EC"/>
                </a:solidFill>
                <a:latin typeface="Avenir Next"/>
              </a:rPr>
              <a:t>•  Payback 1.9 months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E9F0EC"/>
                </a:solidFill>
                <a:latin typeface="Avenir Next"/>
              </a:rPr>
              <a:t>•  LTV:CAC 12.9×  (25-month life)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31520" y="493776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55B60"/>
                </a:solidFill>
                <a:latin typeface="Avenir Next"/>
              </a:rPr>
              <a:t>Full 36-month model with live assumptions: Nashr_Financial_Model.xlsx. Figures above are indicative outputs of the base case; verify in the workbook.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B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2B33D"/>
                </a:solidFill>
                <a:latin typeface="Avenir Next"/>
              </a:rPr>
              <a:t>PEOPLE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9F0EC"/>
                </a:solidFill>
                <a:latin typeface="Avenir Next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3093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A9BFB8"/>
                </a:solidFill>
                <a:latin typeface="Avenir Next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918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035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953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8755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1673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8988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51790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591056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4708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2024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4825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21408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7744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45059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57860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651760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0779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98094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0896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182112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3814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51129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3931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712464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96849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04164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6966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42816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49884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70001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773168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10235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23036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30352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55955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63270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76072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83387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08990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6305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29107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36422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62025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69340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82142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894576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15060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22376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5177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24928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68096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75411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88212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955280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21131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28446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41248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485632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74166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81481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94283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015984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27201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34516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47318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546336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80236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87552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000353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076688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33272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40587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3388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60704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86307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93622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106424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113739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139342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146657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59459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166774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192377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199692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212494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731520" y="2286000"/>
            <a:ext cx="2606040" cy="3291840"/>
          </a:xfrm>
          <a:prstGeom prst="roundRect">
            <a:avLst/>
          </a:prstGeom>
          <a:solidFill>
            <a:srgbClr val="0F3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914400" y="24688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2B33D"/>
                </a:solidFill>
                <a:latin typeface="Avenir Next"/>
              </a:rPr>
              <a:t>Founder / CEO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14400" y="29260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9F0EC"/>
                </a:solidFill>
                <a:latin typeface="Avenir Next"/>
              </a:rPr>
              <a:t>Product, GTM, Gulf market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14400" y="347472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A9BFB8"/>
                </a:solidFill>
                <a:latin typeface="Avenir Next"/>
              </a:rPr>
              <a:t>Replace with founder bio: prior exits, Saudi e-commerce and marketing background.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3520439" y="2286000"/>
            <a:ext cx="2606040" cy="3291840"/>
          </a:xfrm>
          <a:prstGeom prst="roundRect">
            <a:avLst/>
          </a:prstGeom>
          <a:solidFill>
            <a:srgbClr val="0F3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703319" y="24688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2B33D"/>
                </a:solidFill>
                <a:latin typeface="Avenir Next"/>
              </a:rPr>
              <a:t>Founding engineer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703319" y="29260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9F0EC"/>
                </a:solidFill>
                <a:latin typeface="Avenir Next"/>
              </a:rPr>
              <a:t>Agents, connectors, infra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703319" y="347472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A9BFB8"/>
                </a:solidFill>
                <a:latin typeface="Avenir Next"/>
              </a:rPr>
              <a:t>Hiring: TypeScript + LLM tooling; Salla/Zid API experience a plus.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309359" y="2286000"/>
            <a:ext cx="2606040" cy="3291840"/>
          </a:xfrm>
          <a:prstGeom prst="roundRect">
            <a:avLst/>
          </a:prstGeom>
          <a:solidFill>
            <a:srgbClr val="0F3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492239" y="24688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2B33D"/>
                </a:solidFill>
                <a:latin typeface="Avenir Next"/>
              </a:rPr>
              <a:t>AI / Arabic lead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492239" y="29260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9F0EC"/>
                </a:solidFill>
                <a:latin typeface="Avenir Next"/>
              </a:rPr>
              <a:t>Dialect quality, evals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492239" y="347472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A9BFB8"/>
                </a:solidFill>
                <a:latin typeface="Avenir Next"/>
              </a:rPr>
              <a:t>Hiring: NLP + native Gulf Arabic; builds the 300-item golden set.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9098280" y="2286000"/>
            <a:ext cx="2606040" cy="3291840"/>
          </a:xfrm>
          <a:prstGeom prst="roundRect">
            <a:avLst/>
          </a:prstGeom>
          <a:solidFill>
            <a:srgbClr val="0F3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9281160" y="24688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2B33D"/>
                </a:solidFill>
                <a:latin typeface="Avenir Next"/>
              </a:rPr>
              <a:t>Growth / partnerships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281160" y="29260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9F0EC"/>
                </a:solidFill>
                <a:latin typeface="Avenir Next"/>
              </a:rPr>
              <a:t>Salla, Zid, agencies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281160" y="347472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A9BFB8"/>
                </a:solidFill>
                <a:latin typeface="Avenir Next"/>
              </a:rPr>
              <a:t>Hiring: ex-Salla/Zid partner team or agency founder.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31520" y="5760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9BFB8"/>
                </a:solidFill>
                <a:latin typeface="Avenir Next"/>
              </a:rPr>
              <a:t>Advisors to recruit: a Salla/Zid executive, a Snap KSA partner lead, a PDPL/legal advisor.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D9503F"/>
                </a:solidFill>
                <a:latin typeface="Avenir Next"/>
              </a:rPr>
              <a:t>RAISE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0F3D3A"/>
                </a:solidFill>
                <a:latin typeface="Avenir Next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3093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55B60"/>
                </a:solidFill>
                <a:latin typeface="Avenir Next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918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035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953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8755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1673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8988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51790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591056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4708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2024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4825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21408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7744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45059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57860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651760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0779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98094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0896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182112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3814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51129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3931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712464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96849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04164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6966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42816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49884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70001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773168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10235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23036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30352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55955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63270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76072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83387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08990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6305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29107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36422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62025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69340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82142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894576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15060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22376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5177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24928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68096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75411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88212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955280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21131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28446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41248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485632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74166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81481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94283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015984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27201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34516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47318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546336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80236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875520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000353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076688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33272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405872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33888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607040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86307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936224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1064240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1137392" y="6693408"/>
            <a:ext cx="256032" cy="164592"/>
          </a:xfrm>
          <a:prstGeom prst="rect">
            <a:avLst/>
          </a:prstGeom>
          <a:solidFill>
            <a:srgbClr val="F2B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139342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1466576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594592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1667744" y="6693408"/>
            <a:ext cx="256032" cy="164592"/>
          </a:xfrm>
          <a:prstGeom prst="rect">
            <a:avLst/>
          </a:prstGeom>
          <a:solidFill>
            <a:srgbClr val="D95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1923776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1996928" y="6693408"/>
            <a:ext cx="128016" cy="164592"/>
          </a:xfrm>
          <a:prstGeom prst="rect">
            <a:avLst/>
          </a:prstGeom>
          <a:solidFill>
            <a:srgbClr val="F6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2124944" y="6693408"/>
            <a:ext cx="73152" cy="164592"/>
          </a:xfrm>
          <a:prstGeom prst="rect">
            <a:avLst/>
          </a:prstGeom>
          <a:solidFill>
            <a:srgbClr val="10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31520" y="210312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0F3D3A"/>
                </a:solidFill>
                <a:latin typeface="Avenir Next"/>
              </a:rPr>
              <a:t>SAR 6M seed (~USD 1.6M)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31520" y="30175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55B60"/>
                </a:solidFill>
                <a:latin typeface="Avenir Next"/>
              </a:rPr>
              <a:t>Funds the team to cash-flow positive (~month 20): 1,000 paying brands and SAR 430k MRR by month 12</a:t>
            </a:r>
          </a:p>
        </p:txBody>
      </p:sp>
      <p:graphicFrame>
        <p:nvGraphicFramePr>
          <p:cNvPr id="99" name="Table 98"/>
          <p:cNvGraphicFramePr>
            <a:graphicFrameLocks noGrp="1"/>
          </p:cNvGraphicFramePr>
          <p:nvPr/>
        </p:nvGraphicFramePr>
        <p:xfrm>
          <a:off x="6766560" y="2194560"/>
          <a:ext cx="46634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37160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9F0EC"/>
                          </a:solidFill>
                          <a:latin typeface="Avenir Next"/>
                        </a:rPr>
                        <a:t>Use of funds</a:t>
                      </a:r>
                    </a:p>
                  </a:txBody>
                  <a:tcPr>
                    <a:solidFill>
                      <a:srgbClr val="0F3D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9F0EC"/>
                          </a:solidFill>
                          <a:latin typeface="Avenir Next"/>
                        </a:rPr>
                        <a:t>Share</a:t>
                      </a:r>
                    </a:p>
                  </a:txBody>
                  <a:tcPr>
                    <a:solidFill>
                      <a:srgbClr val="0F3D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1418"/>
                          </a:solidFill>
                          <a:latin typeface="Avenir Next"/>
                        </a:rPr>
                        <a:t>Engineering + AI (6 hires)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1418"/>
                          </a:solidFill>
                          <a:latin typeface="Avenir Next"/>
                        </a:rPr>
                        <a:t>55%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1418"/>
                          </a:solidFill>
                          <a:latin typeface="Avenir Next"/>
                        </a:rPr>
                        <a:t>Growth, partnerships, content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1418"/>
                          </a:solidFill>
                          <a:latin typeface="Avenir Next"/>
                        </a:rPr>
                        <a:t>25%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1418"/>
                          </a:solidFill>
                          <a:latin typeface="Avenir Next"/>
                        </a:rPr>
                        <a:t>Arabic QA + customer success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1418"/>
                          </a:solidFill>
                          <a:latin typeface="Avenir Next"/>
                        </a:rPr>
                        <a:t>12%</a:t>
                      </a:r>
                    </a:p>
                  </a:txBody>
                  <a:tcPr>
                    <a:solidFill>
                      <a:srgbClr val="F6F4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1418"/>
                          </a:solidFill>
                          <a:latin typeface="Avenir Next"/>
                        </a:rPr>
                        <a:t>Legal, compliance, KSA hosting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1418"/>
                          </a:solidFill>
                          <a:latin typeface="Avenir Next"/>
                        </a:rPr>
                        <a:t>8%</a:t>
                      </a:r>
                    </a:p>
                  </a:txBody>
                  <a:tcPr>
                    <a:solidFill>
                      <a:srgbClr val="EBE7DC"/>
                    </a:solidFill>
                  </a:tcPr>
                </a:tc>
              </a:tr>
            </a:tbl>
          </a:graphicData>
        </a:graphic>
      </p:graphicFrame>
      <p:sp>
        <p:nvSpPr>
          <p:cNvPr id="100" name="TextBox 99"/>
          <p:cNvSpPr txBox="1"/>
          <p:nvPr/>
        </p:nvSpPr>
        <p:spPr>
          <a:xfrm>
            <a:off x="731520" y="3931920"/>
            <a:ext cx="5669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01418"/>
                </a:solidFill>
                <a:latin typeface="Avenir Next"/>
              </a:rPr>
              <a:t>•  Milestones unlocked: Salla + Zid app-store listings, WhatsApp + Snap approvals, 20 design partners → 220 paying by month 6, 970 by month 12.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01418"/>
                </a:solidFill>
                <a:latin typeface="Avenir Next"/>
              </a:rPr>
              <a:t>•  Series A trigger: SAR 1M MRR (~month 18), NRR ≥ 105%, UAE live.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31520" y="5852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55B60"/>
                </a:solidFill>
                <a:latin typeface="Avenir Next"/>
              </a:rPr>
              <a:t>hello@thakeen.com  ·  thakeen.com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