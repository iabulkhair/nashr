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B33D"/>
                </a:solidFill>
                <a:latin typeface="Avenir Next"/>
              </a:rPr>
              <a:t>ذكين  ·  Thakeen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E9F0EC"/>
                </a:solidFill>
                <a:latin typeface="Avenir Next"/>
              </a:rPr>
              <a:t>While you sleep,</a:t>
            </a:r>
          </a:p>
          <a:p>
            <a:pPr algn="l">
              <a:spcAft>
                <a:spcPts val="600"/>
              </a:spcAft>
            </a:pPr>
            <a:r>
              <a:rPr sz="6000" b="1">
                <a:solidFill>
                  <a:srgbClr val="E9F0EC"/>
                </a:solidFill>
                <a:latin typeface="Avenir Next"/>
              </a:rPr>
              <a:t>Noor markets.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9BFB8"/>
                </a:solidFill>
                <a:latin typeface="Avenir Next"/>
              </a:rPr>
              <a:t>The AI marketing team for Gulf businesses, Arabic-first: it drafts, you approve.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FB8"/>
                </a:solidFill>
                <a:latin typeface="Avenir Next"/>
              </a:rPr>
              <a:t>Seed round  ·  September 2026  ·  Riyadh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Every Gulf business needs daily marketing in two languages across six channels. Almost none have a marketer.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01418"/>
                </a:solidFill>
                <a:latin typeface="Avenir Next"/>
              </a:rPr>
              <a:t>•  40k+ Salla and Zid stores, 100k+ SMEs on Snap/TikTok ads — most run by the owner, at night.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01418"/>
                </a:solidFill>
                <a:latin typeface="Avenir Next"/>
              </a:rPr>
              <a:t>•  Freelancers and agencies charge SAR 2–6k/month for inconsistent Arabic content and zero accountability.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01418"/>
                </a:solidFill>
                <a:latin typeface="Avenir Next"/>
              </a:rPr>
              <a:t>•  Ads are tuned by gut. Seasons (Ramadan, National Day, White Friday) arrive unplanned.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01418"/>
                </a:solidFill>
                <a:latin typeface="Avenir Next"/>
              </a:rPr>
              <a:t>•  Leads land on WhatsApp and go cold. No one follows up.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01418"/>
                </a:solidFill>
                <a:latin typeface="Avenir Next"/>
              </a:rPr>
              <a:t>•  Global AI tools are English-first, non-agentic, and blind to Gulf channels, payments, and calendar.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Noor: an AI agent that plans, creates, publishes, tunes ads, and reports — you only approve.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31520" y="2377440"/>
            <a:ext cx="2057400" cy="310896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40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B33D"/>
                </a:solidFill>
                <a:latin typeface="Avenir Next"/>
              </a:rPr>
              <a:t>Connect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301752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9F0EC"/>
                </a:solidFill>
                <a:latin typeface="Avenir Next"/>
              </a:rPr>
              <a:t>Salla · Zid · Shopify · Snap · TikTok · Meta · Google · WhatsApp — connectors built, each switched on once its platform keys and approvals are in place.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971800" y="2377440"/>
            <a:ext cx="2057400" cy="310896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5468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B33D"/>
                </a:solidFill>
                <a:latin typeface="Avenir Next"/>
              </a:rPr>
              <a:t>Learn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54680" y="301752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9F0EC"/>
                </a:solidFill>
                <a:latin typeface="Avenir Next"/>
              </a:rPr>
              <a:t>Brand voice file: dialect, tone, banned words, competitors. Improves with every edit.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212080" y="2377440"/>
            <a:ext cx="2057400" cy="310896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B33D"/>
                </a:solidFill>
                <a:latin typeface="Avenir Next"/>
              </a:rPr>
              <a:t>Plan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4960" y="301752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9F0EC"/>
                </a:solidFill>
                <a:latin typeface="Avenir Next"/>
              </a:rPr>
              <a:t>Weekly plan from your real numbers and the Gulf calendar, 4 weeks ahead of every season.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452360" y="2377440"/>
            <a:ext cx="2057400" cy="310896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3524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B33D"/>
                </a:solidFill>
                <a:latin typeface="Avenir Next"/>
              </a:rPr>
              <a:t>Execute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1752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9F0EC"/>
                </a:solidFill>
                <a:latin typeface="Avenir Next"/>
              </a:rPr>
              <a:t>Posts, articles, WhatsApp flows, ad budget moves — inside guardrails you set.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92640" y="2377440"/>
            <a:ext cx="2057400" cy="310896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87552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B33D"/>
                </a:solidFill>
                <a:latin typeface="Avenir Next"/>
              </a:rPr>
              <a:t>Report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75520" y="301752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9F0EC"/>
                </a:solidFill>
                <a:latin typeface="Avenir Next"/>
              </a:rPr>
              <a:t>08:00 morning brief in the app (and by email): what waits for your approval, credits, seasons ahead.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A week with Noor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31520" y="22860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30936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When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What happens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Agent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Sunday morning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Drafts the brand's weekly plan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Noor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When you ask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Posts, articles, WhatsApp messages and ad copy in the brand's voice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Noor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When you ask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Pricing review, customer follow-up sequences, reports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Razan · Sami · Dana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Every day, 08:00 KSA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Morning brief in the app: what waits for approval, credits, seasons ahead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Noor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73152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0"/>
                </a:solidFill>
                <a:latin typeface="Avenir Next"/>
              </a:rPr>
              <a:t>An illustrative example, not a real account. Nothing is published before you approve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B33D"/>
                </a:solidFill>
                <a:latin typeface="Avenir Next"/>
              </a:rPr>
              <a:t>90%+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FB8"/>
                </a:solidFill>
                <a:latin typeface="Avenir Next"/>
              </a:rPr>
              <a:t>of Saudi internet users on Snapchat; TikTok Shop live in KSA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6616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B33D"/>
                </a:solidFill>
                <a:latin typeface="Avenir Next"/>
              </a:rPr>
              <a:t>40k+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6616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FB8"/>
                </a:solidFill>
                <a:latin typeface="Avenir Next"/>
              </a:rPr>
              <a:t>Salla/Zid merchants — an app-store distribution channel that didn't exist 4 years ago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0080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B33D"/>
                </a:solidFill>
                <a:latin typeface="Avenir Next"/>
              </a:rPr>
              <a:t>$39→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FB8"/>
                </a:solidFill>
                <a:latin typeface="Avenir Next"/>
              </a:rPr>
              <a:t>Agentic marketing proven in the US (Enrich Labs, 1,400+ businesses in 18 months)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9F0EC"/>
                </a:solidFill>
                <a:latin typeface="Avenir Next"/>
              </a:rPr>
              <a:t>Frontier models now write Gulf Arabic well enough to ship with a human QA loop. WhatsApp Business API is open. Agent frameworks are mature. The window to own “the marketer for Salla stores” is 12–18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3D3A"/>
                </a:solidFill>
                <a:latin typeface="Avenir Next"/>
              </a:rPr>
              <a:t>SAR 9B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2971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0"/>
                </a:solidFill>
                <a:latin typeface="Avenir Next"/>
              </a:rPr>
              <a:t>GCC digital ad spend 2026 (SAM proxy: SMB share ~35%)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4048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3D3A"/>
                </a:solidFill>
                <a:latin typeface="Avenir Next"/>
              </a:rPr>
              <a:t>1.2M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40480" y="2971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0"/>
                </a:solidFill>
                <a:latin typeface="Avenir Next"/>
              </a:rPr>
              <a:t>SMEs in KSA (Monsha'at); ~300k actively advertising online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4944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3D3A"/>
                </a:solidFill>
                <a:latin typeface="Avenir Next"/>
              </a:rPr>
              <a:t>SAR 1.4B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49440" y="2971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0"/>
                </a:solidFill>
                <a:latin typeface="Avenir Next"/>
              </a:rPr>
              <a:t>Serviceable: 300k SMBs × SAR 4.8k/yr blended ARPA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B60"/>
                </a:solidFill>
                <a:latin typeface="Avenir Next"/>
              </a:rPr>
              <a:t>Beachhead: KSA e-commerce (Salla, Zid, Shopify) → real estate, legal, startups, clinics, restaurants, agencies.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B60"/>
                </a:solidFill>
                <a:latin typeface="Avenir Next"/>
              </a:rPr>
              <a:t>Expansion: UAE and Kuwait in year 2 (same channels, same calendar, AED/KWD billing).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Subscription + credits. Cheaper than one hire, faster than an agency.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31520" y="22860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011680"/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Plan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SAR / month + VAT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Credits / month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Seats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For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Starter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299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300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1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Solo sellers, creators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Pro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499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700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3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Founders, stores, clinics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Business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999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1,500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7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Bigger teams and businesses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Agency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Contact us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from 1,500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sized to the team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Agencies and large groups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73152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FB8"/>
                </a:solidFill>
                <a:latin typeface="Avenir Next"/>
              </a:rPr>
              <a:t>Credits meter each task's real model and media cost; the cost of every task is on thakeen.com/pricing. Monthly credits do not roll over; paid plans can add top-up packs.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FB8"/>
                </a:solidFill>
                <a:latin typeface="Avenir Next"/>
              </a:rPr>
              <a:t>Free trial, no card. Prices are in SAR and exclude VAT.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Why a US player can't just localize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31520" y="21945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669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F0EC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F0EC"/>
                          </a:solidFill>
                          <a:latin typeface="Avenir Next"/>
                        </a:rPr>
                        <a:t>Enrich Labs (Helena)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F0EC"/>
                          </a:solidFill>
                          <a:latin typeface="Avenir Next"/>
                        </a:rPr>
                        <a:t>Thakeen (Noor)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Language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English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Arabic, dialect-aware (Saudi / Emirati / Kuwaiti) + English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Ads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Meta, Google, TikTok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Snapchat first, TikTok, Meta, Google, X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Owned channel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Email (Klaviyo)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WhatsApp Business API (+SMS, email)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Commerce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Shopify, Woo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Salla, Zid, Shopify, Woo — app-store distribution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Calendar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US retail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Hijri + national days + White Friday + DSF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Payments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Stripe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418"/>
                          </a:solidFill>
                          <a:latin typeface="Avenir Next"/>
                        </a:rPr>
                        <a:t>Paymob, mada, Tabby/Tamara awareness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Go-to-market: distribution we don't have to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9F0EC"/>
                </a:solidFill>
                <a:latin typeface="Avenir Next"/>
              </a:rPr>
              <a:t>•  Salla + Zid app stores — “Noor for Salla”.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9F0EC"/>
                </a:solidFill>
                <a:latin typeface="Avenir Next"/>
              </a:rPr>
              <a:t>•  Founder-led Arabic content: free tools (hook generator, Ramadan planner, Snap audit), weekly threads, YouTube teardowns.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9F0EC"/>
                </a:solidFill>
                <a:latin typeface="Avenir Next"/>
              </a:rPr>
              <a:t>•  Agency white-label: 25% rev-share; agencies bring 5–10 brands each.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9F0EC"/>
                </a:solidFill>
                <a:latin typeface="Avenir Next"/>
              </a:rPr>
              <a:t>•  Partnerships: Paymob merchant base, Monsha'at programs, Snap KSA partner team, TikTok Shop MENA.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9F0EC"/>
                </a:solidFill>
                <a:latin typeface="Avenir Next"/>
              </a:rPr>
              <a:t>•  Paid: Snap + Meta to merchants; LinkedIn to real-estate and agencies.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83680" y="2286000"/>
            <a:ext cx="4846320" cy="347472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2B33D"/>
                </a:solidFill>
                <a:latin typeface="Avenir Next"/>
              </a:rPr>
              <a:t>Launch sequence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Now: live at thakeen.com (AR/EN), onboarding founding customers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Weeks 4–8: 20 design partners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Week 10: Salla app-store beta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November: public launch before White Friday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Month 6: 300 paying brands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Traction plan and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731520" y="22860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Month 3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Month 6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Month 12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Month 24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Paying brands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80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220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970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4,800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MRR (SAR)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33k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97k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436k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2.2M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Acceptance rate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80%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88%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93%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95%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Gross margin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70%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72%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74%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74%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Team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4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8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12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17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0"/>
                </a:solidFill>
                <a:latin typeface="Avenir Next"/>
              </a:rPr>
              <a:t>Leading indicator we watch weekly: approved actions per brand per week. Lagging: net revenue retention ≥ 100%.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31520" y="21945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2194560"/>
                <a:gridCol w="31089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Agentic (does the work)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Gulf-native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Ads + WhatsApp + content in one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Thakeen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Enrich Labs / Helena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partial (email, not WhatsApp)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Jasper, Copy.ai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 (writes only)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Hootsuite, Predis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 (schedules only)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Local agencies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 (humans)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 at 10× the price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Salla/Zid built-in tools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✓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F0EC"/>
                          </a:solidFill>
                          <a:latin typeface="Avenir Next"/>
                        </a:rPr>
                        <a:t>✗</a:t>
                      </a:r>
                    </a:p>
                  </a:txBody>
                  <a:tcPr>
                    <a:solidFill>
                      <a:srgbClr val="0A2B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Financials (base case, SAR)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731520" y="228600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Year 1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Year 2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9F0EC"/>
                          </a:solidFill>
                          <a:latin typeface="Avenir Next"/>
                        </a:rPr>
                        <a:t>Year 3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Revenue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1.9M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15.1M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43.2M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Gross margin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74%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74%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74%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EBITDA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(2.1M)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3.4M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18.8M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Ending paying brands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970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4,830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10,690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Ending headcount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12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17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1418"/>
                          </a:solidFill>
                          <a:latin typeface="Avenir Next"/>
                        </a:rPr>
                        <a:t>30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99" name="Rounded Rectangle 98"/>
          <p:cNvSpPr/>
          <p:nvPr/>
        </p:nvSpPr>
        <p:spPr>
          <a:xfrm>
            <a:off x="7863840" y="2286000"/>
            <a:ext cx="3566160" cy="329184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3816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2B33D"/>
                </a:solidFill>
                <a:latin typeface="Avenir Next"/>
              </a:rPr>
              <a:t>Unit economics (blended)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3816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ARPA SAR 452/mo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Gross profit / brand SAR 336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CAC SAR 650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Payback 1.9 months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9F0EC"/>
                </a:solidFill>
                <a:latin typeface="Avenir Next"/>
              </a:rPr>
              <a:t>•  LTV:CAC 12.9×  (25-month life)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4937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B60"/>
                </a:solidFill>
                <a:latin typeface="Avenir Next"/>
              </a:rPr>
              <a:t>Full 36-month model with live assumptions in the financial model workbook (docs/Nashr_Financial_Model.xlsx). Figures above are indicative outputs of the base case; verify in the workbook.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33D"/>
                </a:solidFill>
                <a:latin typeface="Avenir Next"/>
              </a:rPr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9F0EC"/>
                </a:solidFill>
                <a:latin typeface="Avenir Next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BFB8"/>
                </a:solidFill>
                <a:latin typeface="Avenir N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31520" y="2286000"/>
            <a:ext cx="2606040" cy="329184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B33D"/>
                </a:solidFill>
                <a:latin typeface="Avenir Next"/>
              </a:rPr>
              <a:t>Founder / CEO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9F0EC"/>
                </a:solidFill>
                <a:latin typeface="Avenir Next"/>
              </a:rPr>
              <a:t>Product, GTM, Gulf market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" y="34747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9BFB8"/>
                </a:solidFill>
                <a:latin typeface="Avenir Next"/>
              </a:rPr>
              <a:t>Replace with founder bio: prior exits, Saudi e-commerce and marketing background.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520439" y="2286000"/>
            <a:ext cx="2606040" cy="329184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03319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B33D"/>
                </a:solidFill>
                <a:latin typeface="Avenir Next"/>
              </a:rPr>
              <a:t>Founding engineer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03319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9F0EC"/>
                </a:solidFill>
                <a:latin typeface="Avenir Next"/>
              </a:rPr>
              <a:t>Agents, connectors, infra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3319" y="34747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9BFB8"/>
                </a:solidFill>
                <a:latin typeface="Avenir Next"/>
              </a:rPr>
              <a:t>Hiring: TypeScript + LLM tooling; Salla/Zid API experience a plus.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09359" y="2286000"/>
            <a:ext cx="2606040" cy="329184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92239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B33D"/>
                </a:solidFill>
                <a:latin typeface="Avenir Next"/>
              </a:rPr>
              <a:t>AI / Arabic lead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92239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9F0EC"/>
                </a:solidFill>
                <a:latin typeface="Avenir Next"/>
              </a:rPr>
              <a:t>Dialect quality, evals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92239" y="34747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9BFB8"/>
                </a:solidFill>
                <a:latin typeface="Avenir Next"/>
              </a:rPr>
              <a:t>Hiring: NLP + native Gulf Arabic; builds the 300-item golden set.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2286000"/>
            <a:ext cx="2606040" cy="3291840"/>
          </a:xfrm>
          <a:prstGeom prst="roundRect">
            <a:avLst/>
          </a:prstGeom>
          <a:solidFill>
            <a:srgbClr val="0F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8116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B33D"/>
                </a:solidFill>
                <a:latin typeface="Avenir Next"/>
              </a:rPr>
              <a:t>Growth / partnerships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8116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9F0EC"/>
                </a:solidFill>
                <a:latin typeface="Avenir Next"/>
              </a:rPr>
              <a:t>Salla, Zid, agencies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81160" y="34747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9BFB8"/>
                </a:solidFill>
                <a:latin typeface="Avenir Next"/>
              </a:rPr>
              <a:t>Hiring: ex-Salla/Zid partner team or agency founder.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FB8"/>
                </a:solidFill>
                <a:latin typeface="Avenir Next"/>
              </a:rPr>
              <a:t>Advisors to recruit: a Salla/Zid executive, a Snap KSA partner lead, a PDPL/legal advisor.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RAISE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3D3A"/>
                </a:solidFill>
                <a:latin typeface="Avenir Next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B60"/>
                </a:solidFill>
                <a:latin typeface="Avenir N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67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8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8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129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9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246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849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0235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5955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3270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2025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9340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21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94576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24928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5411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212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8446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85632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166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481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4283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5984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7201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4516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46336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0236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0353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76688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05872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07040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6307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36224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7392" y="6693408"/>
            <a:ext cx="256032" cy="164592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9342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66576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94592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67744" y="6693408"/>
            <a:ext cx="256032" cy="164592"/>
          </a:xfrm>
          <a:prstGeom prst="rect">
            <a:avLst/>
          </a:prstGeom>
          <a:solidFill>
            <a:srgbClr val="D95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23776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96928" y="6693408"/>
            <a:ext cx="128016" cy="164592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24944" y="6693408"/>
            <a:ext cx="73152" cy="164592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30975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9503F"/>
                </a:solidFill>
                <a:latin typeface="Avenir Next"/>
              </a:rPr>
              <a:t>TO VERIFY: figures not yet checked against a source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2103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3D3A"/>
                </a:solidFill>
                <a:latin typeface="Avenir Next"/>
              </a:rPr>
              <a:t>SAR 6M seed (~USD 1.6M)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B60"/>
                </a:solidFill>
                <a:latin typeface="Avenir Next"/>
              </a:rPr>
              <a:t>Funds the team to cash-flow positive (~month 20): 1,000 paying brands and SAR 430k MRR by month 12</a:t>
            </a: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6766560" y="2194560"/>
          <a:ext cx="466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Use of funds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F0EC"/>
                          </a:solidFill>
                          <a:latin typeface="Avenir Next"/>
                        </a:rPr>
                        <a:t>Share</a:t>
                      </a:r>
                    </a:p>
                  </a:txBody>
                  <a:tcPr>
                    <a:solidFill>
                      <a:srgbClr val="0F3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Engineering + AI (6 hires)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55%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Growth, partnerships, content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25%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Arabic QA + customer success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12%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Legal, compliance, KSA hosting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1418"/>
                          </a:solidFill>
                          <a:latin typeface="Avenir Next"/>
                        </a:rPr>
                        <a:t>8%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731520" y="39319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01418"/>
                </a:solidFill>
                <a:latin typeface="Avenir Next"/>
              </a:rPr>
              <a:t>•  Milestones unlocked: Salla + Zid app-store listings, WhatsApp + Snap approvals, 20 design partners → 220 paying by month 6, 970 by month 12.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1418"/>
                </a:solidFill>
                <a:latin typeface="Avenir Next"/>
              </a:rPr>
              <a:t>•  Series A trigger: SAR 1M MRR (~month 18), NRR ≥ 105%, UAE live.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B60"/>
                </a:solidFill>
                <a:latin typeface="Avenir Next"/>
              </a:rPr>
              <a:t>hello@thakeen.com  ·  thakeen.com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