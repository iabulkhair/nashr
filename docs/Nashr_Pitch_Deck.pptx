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B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B33D"/>
                </a:solidFill>
                <a:latin typeface="Avenir Next"/>
              </a:rPr>
              <a:t>نشر  ·  Nashr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E9F0EC"/>
                </a:solidFill>
                <a:latin typeface="Avenir Next"/>
              </a:rPr>
              <a:t>While you sleep,</a:t>
            </a:r>
          </a:p>
          <a:p>
            <a:pPr algn="l">
              <a:spcAft>
                <a:spcPts val="600"/>
              </a:spcAft>
            </a:pPr>
            <a:r>
              <a:rPr sz="6000" b="1">
                <a:solidFill>
                  <a:srgbClr val="E9F0EC"/>
                </a:solidFill>
                <a:latin typeface="Avenir Next"/>
              </a:rPr>
              <a:t>Noor markets.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97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A9BFB8"/>
                </a:solidFill>
                <a:latin typeface="Avenir Next"/>
              </a:rPr>
              <a:t>The autonomous AI marketing agent for Gulf businesses — Arabic-first, WhatsApp-native, hosted in-Kingdom.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9BFB8"/>
                </a:solidFill>
                <a:latin typeface="Avenir Next"/>
              </a:rPr>
              <a:t>Seed round  ·  September 2026  ·  Riyadh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503F"/>
                </a:solidFill>
                <a:latin typeface="Avenir Next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3D3A"/>
                </a:solidFill>
                <a:latin typeface="Avenir Next"/>
              </a:rPr>
              <a:t>Every Gulf business needs daily marketing in two languages across six channels. Almost none have a marketer.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55B60"/>
                </a:solidFill>
                <a:latin typeface="Avenir Next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2377440"/>
            <a:ext cx="5669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01418"/>
                </a:solidFill>
                <a:latin typeface="Avenir Next"/>
              </a:rPr>
              <a:t>•  40k+ Salla and Zid stores, 100k+ SMEs on Snap/TikTok ads — most run by the owner, at night.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01418"/>
                </a:solidFill>
                <a:latin typeface="Avenir Next"/>
              </a:rPr>
              <a:t>•  Freelancers and agencies charge SAR 2–6k/month for inconsistent Arabic content and zero accountability.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01418"/>
                </a:solidFill>
                <a:latin typeface="Avenir Next"/>
              </a:rPr>
              <a:t>•  Ads are tuned by gut. Seasons (Ramadan, National Day, White Friday) arrive unplanned.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01418"/>
                </a:solidFill>
                <a:latin typeface="Avenir Next"/>
              </a:rPr>
              <a:t>•  Leads land on WhatsApp and go cold. No one follows up.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01418"/>
                </a:solidFill>
                <a:latin typeface="Avenir Next"/>
              </a:rPr>
              <a:t>•  Global AI tools are English-first, non-agentic, and blind to Gulf channels, payments, and calendar.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949440" y="2377440"/>
            <a:ext cx="4480560" cy="329184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223760" y="25603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2B33D"/>
                </a:solidFill>
                <a:latin typeface="Avenir Next"/>
              </a:rPr>
              <a:t>What a merchant told us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223760" y="301752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E9F0EC"/>
                </a:solidFill>
                <a:latin typeface="Avenir Next"/>
              </a:rPr>
              <a:t>“I spend SAR 25k a month on Snap and I have no idea if it works. I post when I remember. Ramadan came and I had nothing ready.”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23760" y="51206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9BFB8"/>
                </a:solidFill>
                <a:latin typeface="Avenir Next"/>
              </a:rPr>
              <a:t>— Perfume store, Riyadh, SAR 1.8M GMV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B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33D"/>
                </a:solidFill>
                <a:latin typeface="Avenir Next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9F0EC"/>
                </a:solidFill>
                <a:latin typeface="Avenir Next"/>
              </a:rPr>
              <a:t>Noor: an AI agent that plans, creates, publishes, tunes ads, and reports — you only approve.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BFB8"/>
                </a:solidFill>
                <a:latin typeface="Avenir Next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731520" y="2377440"/>
            <a:ext cx="2057400" cy="310896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14400" y="2514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2B33D"/>
                </a:solidFill>
                <a:latin typeface="Avenir Next"/>
              </a:rPr>
              <a:t>Connect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14400" y="3017520"/>
            <a:ext cx="1737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9F0EC"/>
                </a:solidFill>
                <a:latin typeface="Avenir Next"/>
              </a:rPr>
              <a:t>Salla · Zid · Shopify · Snap · TikTok · Meta · Google · WhatsApp — one-click OAuth.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971800" y="2377440"/>
            <a:ext cx="2057400" cy="310896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154680" y="2514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2B33D"/>
                </a:solidFill>
                <a:latin typeface="Avenir Next"/>
              </a:rPr>
              <a:t>Learn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154680" y="3017520"/>
            <a:ext cx="1737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9F0EC"/>
                </a:solidFill>
                <a:latin typeface="Avenir Next"/>
              </a:rPr>
              <a:t>Brand voice file: dialect, tone, banned words, competitors. Improves with every edit.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212080" y="2377440"/>
            <a:ext cx="2057400" cy="310896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394960" y="2514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2B33D"/>
                </a:solidFill>
                <a:latin typeface="Avenir Next"/>
              </a:rPr>
              <a:t>Plan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394960" y="3017520"/>
            <a:ext cx="1737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9F0EC"/>
                </a:solidFill>
                <a:latin typeface="Avenir Next"/>
              </a:rPr>
              <a:t>Weekly plan from your real numbers and the Gulf calendar, 4 weeks ahead of every season.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452360" y="2377440"/>
            <a:ext cx="2057400" cy="310896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635240" y="2514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2B33D"/>
                </a:solidFill>
                <a:latin typeface="Avenir Next"/>
              </a:rPr>
              <a:t>Execute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635240" y="3017520"/>
            <a:ext cx="1737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9F0EC"/>
                </a:solidFill>
                <a:latin typeface="Avenir Next"/>
              </a:rPr>
              <a:t>Posts, articles, WhatsApp flows, ad budget moves — inside guardrails you set.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692640" y="2377440"/>
            <a:ext cx="2057400" cy="310896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875520" y="2514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2B33D"/>
                </a:solidFill>
                <a:latin typeface="Avenir Next"/>
              </a:rPr>
              <a:t>Report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5520" y="3017520"/>
            <a:ext cx="1737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9F0EC"/>
                </a:solidFill>
                <a:latin typeface="Avenir Next"/>
              </a:rPr>
              <a:t>08:00 WhatsApp brief: revenue, ROAS, what she did, what needs a yes.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503F"/>
                </a:solidFill>
                <a:latin typeface="Avenir Next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3D3A"/>
                </a:solidFill>
                <a:latin typeface="Avenir Next"/>
              </a:rPr>
              <a:t>A night with Noor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55B60"/>
                </a:solidFill>
                <a:latin typeface="Avenir Next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7" name="Table 96"/>
          <p:cNvGraphicFramePr>
            <a:graphicFrameLocks noGrp="1"/>
          </p:cNvGraphicFramePr>
          <p:nvPr/>
        </p:nvGraphicFramePr>
        <p:xfrm>
          <a:off x="731520" y="2286000"/>
          <a:ext cx="1069847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7498079"/>
                <a:gridCol w="21945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Time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Action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Agent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23:40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Snap campaign ROAS fell to 1.8 → cut 30%, moved budget to TikTok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Sultan · Ads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01:15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Wrote 1,800-word Arabic article on a keyword competitors miss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Faisal · SEO/GEO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02:50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12 posts for next week in light Saudi dialect + 3 UGC scripts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Lama · Social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04:30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Competitor changed 6 prices → comparison added to brief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Noor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06:00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Abandoned-cart WhatsApp to 214 customers (expected 8–12% conversion)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Reem · WhatsApp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08:00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Morning brief sent: 4 approvals pending, revenue SAR 18,420 (+11%)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Noor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731520" y="5394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5B60"/>
                </a:solidFill>
                <a:latin typeface="Avenir Next"/>
              </a:rPr>
              <a:t>Default: everything waits for approval. Trust builds → delegate by type. Acceptance rate reaches 95% by week 8.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B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33D"/>
                </a:solidFill>
                <a:latin typeface="Avenir Next"/>
              </a:rPr>
              <a:t>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9F0EC"/>
                </a:solidFill>
                <a:latin typeface="Avenir Next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BFB8"/>
                </a:solidFill>
                <a:latin typeface="Avenir Next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2B33D"/>
                </a:solidFill>
                <a:latin typeface="Avenir Next"/>
              </a:rPr>
              <a:t>90%+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" y="3063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9BFB8"/>
                </a:solidFill>
                <a:latin typeface="Avenir Next"/>
              </a:rPr>
              <a:t>of Saudi internet users on Snapchat; TikTok Shop live in KSA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66160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2B33D"/>
                </a:solidFill>
                <a:latin typeface="Avenir Next"/>
              </a:rPr>
              <a:t>40k+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566160" y="3063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9BFB8"/>
                </a:solidFill>
                <a:latin typeface="Avenir Next"/>
              </a:rPr>
              <a:t>Salla/Zid merchants — an app-store distribution channel that didn't exist 4 years ago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00800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2B33D"/>
                </a:solidFill>
                <a:latin typeface="Avenir Next"/>
              </a:rPr>
              <a:t>PDPL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00800" y="3063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9BFB8"/>
                </a:solidFill>
                <a:latin typeface="Avenir Next"/>
              </a:rPr>
              <a:t>In-Kingdom data rules now enforced — global tools can't comply cheaply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235440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2B33D"/>
                </a:solidFill>
                <a:latin typeface="Avenir Next"/>
              </a:rPr>
              <a:t>$39→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235440" y="3063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9BFB8"/>
                </a:solidFill>
                <a:latin typeface="Avenir Next"/>
              </a:rPr>
              <a:t>Agentic marketing proven in the US (Enrich Labs, 1,400+ businesses in 18 months)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1520" y="44805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9F0EC"/>
                </a:solidFill>
                <a:latin typeface="Avenir Next"/>
              </a:rPr>
              <a:t>Frontier models now write Gulf Arabic well enough to ship with a human QA loop. WhatsApp Business API is open. Agent frameworks are mature. The window to own “the marketer for Salla stores” is 12–18 months.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503F"/>
                </a:solidFill>
                <a:latin typeface="Avenir Next"/>
              </a:rPr>
              <a:t>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3D3A"/>
                </a:solidFill>
                <a:latin typeface="Avenir Next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55B60"/>
                </a:solidFill>
                <a:latin typeface="Avenir Next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21945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F3D3A"/>
                </a:solidFill>
                <a:latin typeface="Avenir Next"/>
              </a:rPr>
              <a:t>SAR 9B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" y="29718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5B60"/>
                </a:solidFill>
                <a:latin typeface="Avenir Next"/>
              </a:rPr>
              <a:t>GCC digital ad spend 2026 (SAM proxy: SMB share ~35%)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40480" y="21945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F3D3A"/>
                </a:solidFill>
                <a:latin typeface="Avenir Next"/>
              </a:rPr>
              <a:t>1.2M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40480" y="29718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5B60"/>
                </a:solidFill>
                <a:latin typeface="Avenir Next"/>
              </a:rPr>
              <a:t>SMEs in KSA (Monsha'at); ~300k actively advertising online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49440" y="21945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F3D3A"/>
                </a:solidFill>
                <a:latin typeface="Avenir Next"/>
              </a:rPr>
              <a:t>SAR 1.4B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949440" y="29718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5B60"/>
                </a:solidFill>
                <a:latin typeface="Avenir Next"/>
              </a:rPr>
              <a:t>Serviceable: 300k SMBs × SAR 4.8k/yr blended ARPA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3152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55B60"/>
                </a:solidFill>
                <a:latin typeface="Avenir Next"/>
              </a:rPr>
              <a:t>Beachhead: KSA e-commerce (Salla, Zid, Shopify) → real estate, legal, startups, clinics, restaurants, agencies.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55B60"/>
                </a:solidFill>
                <a:latin typeface="Avenir Next"/>
              </a:rPr>
              <a:t>Expansion: UAE and Kuwait in year 2 (same channels, same calendar, AED/KWD billing).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B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33D"/>
                </a:solidFill>
                <a:latin typeface="Avenir Next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9F0EC"/>
                </a:solidFill>
                <a:latin typeface="Avenir Next"/>
              </a:rPr>
              <a:t>Subscription + credits. Cheaper than one hire, faster than an agency.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BFB8"/>
                </a:solidFill>
                <a:latin typeface="Avenir Next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7" name="Table 96"/>
          <p:cNvGraphicFramePr>
            <a:graphicFrameLocks noGrp="1"/>
          </p:cNvGraphicFramePr>
          <p:nvPr/>
        </p:nvGraphicFramePr>
        <p:xfrm>
          <a:off x="731520" y="228600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828800"/>
                <a:gridCol w="2011680"/>
                <a:gridCol w="3566160"/>
                <a:gridCol w="182880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Plan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SAR / month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Credits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For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Gross margin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Starter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149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200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Solo sellers, creators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~69%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Pro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399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700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Founders, stores, clinics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~75%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Agency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799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2,000 (roll over)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Agencies, multi-branch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~72%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Enterprise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custom (~4,500)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custom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Groups, real-estate developers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~79%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731520" y="4572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9BFB8"/>
                </a:solidFill>
                <a:latin typeface="Avenir Next"/>
              </a:rPr>
              <a:t>Credits meter real model + media cost (post = 1, article = 2, WhatsApp campaign = 3, video = 12–24). Top-ups and extra seats/brands add ~12% revenue.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9BFB8"/>
                </a:solidFill>
                <a:latin typeface="Avenir Next"/>
              </a:rPr>
              <a:t>7-day trial, no card. Annual = 2 months free. Billing via Tap/Moyasar (mada, Apple Pay, STC Pay).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503F"/>
                </a:solidFill>
                <a:latin typeface="Avenir Next"/>
              </a:rPr>
              <a:t>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3D3A"/>
                </a:solidFill>
                <a:latin typeface="Avenir Next"/>
              </a:rPr>
              <a:t>Why a US player can't just localize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55B60"/>
                </a:solidFill>
                <a:latin typeface="Avenir Next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7" name="Table 96"/>
          <p:cNvGraphicFramePr>
            <a:graphicFrameLocks noGrp="1"/>
          </p:cNvGraphicFramePr>
          <p:nvPr/>
        </p:nvGraphicFramePr>
        <p:xfrm>
          <a:off x="731520" y="219456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56692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F0EC"/>
                          </a:solidFill>
                          <a:latin typeface="Avenir Next"/>
                        </a:rPr>
                        <a:t/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F0EC"/>
                          </a:solidFill>
                          <a:latin typeface="Avenir Next"/>
                        </a:rPr>
                        <a:t>Enrich Labs (Helena)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F0EC"/>
                          </a:solidFill>
                          <a:latin typeface="Avenir Next"/>
                        </a:rPr>
                        <a:t>Nashr (Noor)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Language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English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Arabic, dialect-aware (Saudi / Emirati / Kuwaiti) + English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Ads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Meta, Google, TikTok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Snapchat first, TikTok, Meta, Google, X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Owned channel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Email (Klaviyo)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WhatsApp Business API (+SMS, email)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Commerce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Shopify, Woo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Salla, Zid, Shopify, Woo — app-store distribution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Calendar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US retail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Hijri + national days + White Friday + DSF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Data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US hosting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KSA region, PDPL-compliant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Payments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Stripe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Tap / Moyasar, mada, Tabby/Tamara awareness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B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33D"/>
                </a:solidFill>
                <a:latin typeface="Avenir Next"/>
              </a:rPr>
              <a:t>GTM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9F0EC"/>
                </a:solidFill>
                <a:latin typeface="Avenir Next"/>
              </a:rPr>
              <a:t>Go-to-market: distribution we don't have to buy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BFB8"/>
                </a:solidFill>
                <a:latin typeface="Avenir Next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228600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E9F0EC"/>
                </a:solidFill>
                <a:latin typeface="Avenir Next"/>
              </a:rPr>
              <a:t>•  Salla + Zid app stores — “Noor for Salla”, 30 days free for installs.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9F0EC"/>
                </a:solidFill>
                <a:latin typeface="Avenir Next"/>
              </a:rPr>
              <a:t>•  Founder-led Arabic content: free tools (hook generator, Ramadan planner, Snap audit), weekly threads, YouTube teardowns.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9F0EC"/>
                </a:solidFill>
                <a:latin typeface="Avenir Next"/>
              </a:rPr>
              <a:t>•  Agency white-label: 25% rev-share; agencies bring 5–10 brands each.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9F0EC"/>
                </a:solidFill>
                <a:latin typeface="Avenir Next"/>
              </a:rPr>
              <a:t>•  Partnerships: Tap/Moyasar merchant base, Monsha'at programs, Snap KSA partner team, TikTok Shop MENA.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9F0EC"/>
                </a:solidFill>
                <a:latin typeface="Avenir Next"/>
              </a:rPr>
              <a:t>•  Paid: Snap + Meta to merchants; LinkedIn to real-estate and agencies.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583680" y="2286000"/>
            <a:ext cx="4846320" cy="347472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58000" y="2468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2B33D"/>
                </a:solidFill>
                <a:latin typeface="Avenir Next"/>
              </a:rPr>
              <a:t>Launch sequence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58000" y="292608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Now: waitlist live (nashr site, AR/EN)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Weeks 4–8: 20 design partners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Week 10: Salla app-store beta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November: public launch before White Friday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Month 6: 300 paying brands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503F"/>
                </a:solidFill>
                <a:latin typeface="Avenir Next"/>
              </a:rPr>
              <a:t>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3D3A"/>
                </a:solidFill>
                <a:latin typeface="Avenir Next"/>
              </a:rPr>
              <a:t>Traction plan and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55B60"/>
                </a:solidFill>
                <a:latin typeface="Avenir Next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7" name="Table 96"/>
          <p:cNvGraphicFramePr>
            <a:graphicFrameLocks noGrp="1"/>
          </p:cNvGraphicFramePr>
          <p:nvPr/>
        </p:nvGraphicFramePr>
        <p:xfrm>
          <a:off x="731520" y="228600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103120"/>
                <a:gridCol w="2103120"/>
                <a:gridCol w="2103120"/>
                <a:gridCol w="210312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/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>Month 3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>Month 6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>Month 12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>Month 24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Paying brands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80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220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970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4,800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MRR (SAR)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33k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97k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436k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2.2M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Acceptance rate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80%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88%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93%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95%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Gross margin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70%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72%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74%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74%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Team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4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8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12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17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731520" y="4846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5B60"/>
                </a:solidFill>
                <a:latin typeface="Avenir Next"/>
              </a:rPr>
              <a:t>Leading indicator we watch weekly: approved actions per brand per week. Lagging: net revenue retention ≥ 100%.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B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33D"/>
                </a:solidFill>
                <a:latin typeface="Avenir Next"/>
              </a:rPr>
              <a:t>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9F0EC"/>
                </a:solidFill>
                <a:latin typeface="Avenir Next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BFB8"/>
                </a:solidFill>
                <a:latin typeface="Avenir Next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7" name="Table 96"/>
          <p:cNvGraphicFramePr>
            <a:graphicFrameLocks noGrp="1"/>
          </p:cNvGraphicFramePr>
          <p:nvPr/>
        </p:nvGraphicFramePr>
        <p:xfrm>
          <a:off x="731520" y="21945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651760"/>
                <a:gridCol w="2194560"/>
                <a:gridCol w="31089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/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Agentic (does the work)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Gulf-native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Ads + WhatsApp + content in one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Nashr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✓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✓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✓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Enrich Labs / Helena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✓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partial (email, not WhatsApp)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Jasper, Copy.ai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 (writes only)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Hootsuite, Predis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 (schedules only)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Local agencies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✓ (humans)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✓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✓ at 10× the price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Salla/Zid built-in tools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✓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503F"/>
                </a:solidFill>
                <a:latin typeface="Avenir Next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3D3A"/>
                </a:solidFill>
                <a:latin typeface="Avenir Next"/>
              </a:rPr>
              <a:t>Financials (base case, SAR)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55B60"/>
                </a:solidFill>
                <a:latin typeface="Avenir Next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7" name="Table 96"/>
          <p:cNvGraphicFramePr>
            <a:graphicFrameLocks noGrp="1"/>
          </p:cNvGraphicFramePr>
          <p:nvPr/>
        </p:nvGraphicFramePr>
        <p:xfrm>
          <a:off x="731520" y="228600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/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>Year 1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>Year 2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>Year 3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Revenue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1.9M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15.1M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43.2M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Gross margin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74%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74%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74%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EBITDA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(2.1M)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3.4M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18.8M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Ending paying brands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970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4,830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10,690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Ending headcount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12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17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30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</a:tbl>
          </a:graphicData>
        </a:graphic>
      </p:graphicFrame>
      <p:sp>
        <p:nvSpPr>
          <p:cNvPr id="98" name="Rounded Rectangle 97"/>
          <p:cNvSpPr/>
          <p:nvPr/>
        </p:nvSpPr>
        <p:spPr>
          <a:xfrm>
            <a:off x="7863840" y="2286000"/>
            <a:ext cx="3566160" cy="329184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38160" y="2468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2B33D"/>
                </a:solidFill>
                <a:latin typeface="Avenir Next"/>
              </a:rPr>
              <a:t>Unit economics (blended)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138160" y="292608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ARPA SAR 452/mo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Gross profit / brand SAR 336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CAC SAR 650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Payback 1.9 months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LTV:CAC 12.9×  (25-month life)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1520" y="493776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B60"/>
                </a:solidFill>
                <a:latin typeface="Avenir Next"/>
              </a:rPr>
              <a:t>Full 36-month model with live assumptions: Nashr_Financial_Model.xlsx. Figures above are indicative outputs of the base case; verify in the workbook.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B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33D"/>
                </a:solidFill>
                <a:latin typeface="Avenir Next"/>
              </a:rPr>
              <a:t>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9F0EC"/>
                </a:solidFill>
                <a:latin typeface="Avenir Next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BFB8"/>
                </a:solidFill>
                <a:latin typeface="Avenir Next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731520" y="2286000"/>
            <a:ext cx="2606040" cy="329184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2B33D"/>
                </a:solidFill>
                <a:latin typeface="Avenir Next"/>
              </a:rPr>
              <a:t>Founder / CEO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9F0EC"/>
                </a:solidFill>
                <a:latin typeface="Avenir Next"/>
              </a:rPr>
              <a:t>Product, GTM, Gulf market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14400" y="347472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9BFB8"/>
                </a:solidFill>
                <a:latin typeface="Avenir Next"/>
              </a:rPr>
              <a:t>Replace with founder bio: prior exits, Saudi e-commerce and marketing background.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520439" y="2286000"/>
            <a:ext cx="2606040" cy="329184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703319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2B33D"/>
                </a:solidFill>
                <a:latin typeface="Avenir Next"/>
              </a:rPr>
              <a:t>Founding engineer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703319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9F0EC"/>
                </a:solidFill>
                <a:latin typeface="Avenir Next"/>
              </a:rPr>
              <a:t>Agents, connectors, infra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703319" y="347472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9BFB8"/>
                </a:solidFill>
                <a:latin typeface="Avenir Next"/>
              </a:rPr>
              <a:t>Hiring: TypeScript + LLM tooling; Salla/Zid API experience a plus.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309359" y="2286000"/>
            <a:ext cx="2606040" cy="329184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492239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2B33D"/>
                </a:solidFill>
                <a:latin typeface="Avenir Next"/>
              </a:rPr>
              <a:t>AI / Arabic lead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92239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9F0EC"/>
                </a:solidFill>
                <a:latin typeface="Avenir Next"/>
              </a:rPr>
              <a:t>Dialect quality, evals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92239" y="347472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9BFB8"/>
                </a:solidFill>
                <a:latin typeface="Avenir Next"/>
              </a:rPr>
              <a:t>Hiring: NLP + native Gulf Arabic; builds the 300-item golden set.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098280" y="2286000"/>
            <a:ext cx="2606040" cy="329184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28116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2B33D"/>
                </a:solidFill>
                <a:latin typeface="Avenir Next"/>
              </a:rPr>
              <a:t>Growth / partnerships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281160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9F0EC"/>
                </a:solidFill>
                <a:latin typeface="Avenir Next"/>
              </a:rPr>
              <a:t>Salla, Zid, agencies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281160" y="347472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9BFB8"/>
                </a:solidFill>
                <a:latin typeface="Avenir Next"/>
              </a:rPr>
              <a:t>Hiring: ex-Salla/Zid partner team or agency founder.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9BFB8"/>
                </a:solidFill>
                <a:latin typeface="Avenir Next"/>
              </a:rPr>
              <a:t>Advisors to recruit: a Salla/Zid executive, a Snap KSA partner lead, a PDPL/legal advisor.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503F"/>
                </a:solidFill>
                <a:latin typeface="Avenir Next"/>
              </a:rPr>
              <a:t>RAISE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3D3A"/>
                </a:solidFill>
                <a:latin typeface="Avenir Next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55B60"/>
                </a:solidFill>
                <a:latin typeface="Avenir Next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21031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F3D3A"/>
                </a:solidFill>
                <a:latin typeface="Avenir Next"/>
              </a:rPr>
              <a:t>SAR 6M seed (~USD 1.6M)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" y="3017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55B60"/>
                </a:solidFill>
                <a:latin typeface="Avenir Next"/>
              </a:rPr>
              <a:t>Funds the team to cash-flow positive (~month 20): 1,000 paying brands and SAR 430k MRR by month 12</a:t>
            </a:r>
          </a:p>
        </p:txBody>
      </p:sp>
      <p:graphicFrame>
        <p:nvGraphicFramePr>
          <p:cNvPr id="99" name="Table 98"/>
          <p:cNvGraphicFramePr>
            <a:graphicFrameLocks noGrp="1"/>
          </p:cNvGraphicFramePr>
          <p:nvPr/>
        </p:nvGraphicFramePr>
        <p:xfrm>
          <a:off x="6766560" y="2194560"/>
          <a:ext cx="46634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Use of funds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Share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Engineering + AI (6 hires)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55%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Growth, partnerships, content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25%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Arabic QA + customer success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12%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Legal, compliance, KSA hosting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8%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</a:tbl>
          </a:graphicData>
        </a:graphic>
      </p:graphicFrame>
      <p:sp>
        <p:nvSpPr>
          <p:cNvPr id="100" name="TextBox 99"/>
          <p:cNvSpPr txBox="1"/>
          <p:nvPr/>
        </p:nvSpPr>
        <p:spPr>
          <a:xfrm>
            <a:off x="731520" y="393192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01418"/>
                </a:solidFill>
                <a:latin typeface="Avenir Next"/>
              </a:rPr>
              <a:t>•  Milestones unlocked: Salla + Zid app-store listings, WhatsApp + Snap approvals, 20 design partners → 220 paying by month 6, 970 by month 12.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01418"/>
                </a:solidFill>
                <a:latin typeface="Avenir Next"/>
              </a:rPr>
              <a:t>•  Series A trigger: SAR 1M MRR (~month 18), NRR ≥ 105%, UAE live.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B60"/>
                </a:solidFill>
                <a:latin typeface="Avenir Next"/>
              </a:rPr>
              <a:t>hello@nashr.ai  ·  nashr.ai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